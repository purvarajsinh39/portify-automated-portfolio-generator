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81"/>
  </p:notesMasterIdLst>
  <p:sldIdLst>
    <p:sldId id="256" r:id="rId2"/>
    <p:sldId id="262" r:id="rId3"/>
    <p:sldId id="303" r:id="rId4"/>
    <p:sldId id="289" r:id="rId5"/>
    <p:sldId id="265" r:id="rId6"/>
    <p:sldId id="288" r:id="rId7"/>
    <p:sldId id="290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300" r:id="rId16"/>
    <p:sldId id="298" r:id="rId17"/>
    <p:sldId id="299" r:id="rId18"/>
    <p:sldId id="301" r:id="rId19"/>
    <p:sldId id="258" r:id="rId20"/>
    <p:sldId id="314" r:id="rId21"/>
    <p:sldId id="317" r:id="rId22"/>
    <p:sldId id="318" r:id="rId23"/>
    <p:sldId id="319" r:id="rId24"/>
    <p:sldId id="315" r:id="rId25"/>
    <p:sldId id="316" r:id="rId26"/>
    <p:sldId id="304" r:id="rId27"/>
    <p:sldId id="305" r:id="rId28"/>
    <p:sldId id="306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320" r:id="rId37"/>
    <p:sldId id="321" r:id="rId38"/>
    <p:sldId id="322" r:id="rId39"/>
    <p:sldId id="342" r:id="rId40"/>
    <p:sldId id="341" r:id="rId41"/>
    <p:sldId id="343" r:id="rId42"/>
    <p:sldId id="344" r:id="rId43"/>
    <p:sldId id="345" r:id="rId44"/>
    <p:sldId id="346" r:id="rId45"/>
    <p:sldId id="347" r:id="rId46"/>
    <p:sldId id="348" r:id="rId47"/>
    <p:sldId id="349" r:id="rId48"/>
    <p:sldId id="350" r:id="rId49"/>
    <p:sldId id="351" r:id="rId50"/>
    <p:sldId id="352" r:id="rId51"/>
    <p:sldId id="353" r:id="rId52"/>
    <p:sldId id="354" r:id="rId53"/>
    <p:sldId id="355" r:id="rId54"/>
    <p:sldId id="356" r:id="rId55"/>
    <p:sldId id="357" r:id="rId56"/>
    <p:sldId id="358" r:id="rId57"/>
    <p:sldId id="359" r:id="rId58"/>
    <p:sldId id="360" r:id="rId59"/>
    <p:sldId id="361" r:id="rId60"/>
    <p:sldId id="362" r:id="rId61"/>
    <p:sldId id="363" r:id="rId62"/>
    <p:sldId id="364" r:id="rId63"/>
    <p:sldId id="323" r:id="rId64"/>
    <p:sldId id="324" r:id="rId65"/>
    <p:sldId id="325" r:id="rId66"/>
    <p:sldId id="326" r:id="rId67"/>
    <p:sldId id="328" r:id="rId68"/>
    <p:sldId id="329" r:id="rId69"/>
    <p:sldId id="330" r:id="rId70"/>
    <p:sldId id="331" r:id="rId71"/>
    <p:sldId id="332" r:id="rId72"/>
    <p:sldId id="333" r:id="rId73"/>
    <p:sldId id="334" r:id="rId74"/>
    <p:sldId id="335" r:id="rId75"/>
    <p:sldId id="337" r:id="rId76"/>
    <p:sldId id="338" r:id="rId77"/>
    <p:sldId id="339" r:id="rId78"/>
    <p:sldId id="340" r:id="rId79"/>
    <p:sldId id="302" r:id="rId80"/>
  </p:sldIdLst>
  <p:sldSz cx="9144000" cy="5143500" type="screen16x9"/>
  <p:notesSz cx="6858000" cy="9144000"/>
  <p:embeddedFontLst>
    <p:embeddedFont>
      <p:font typeface="Darker Grotesque SemiBold" panose="020B0604020202020204" charset="0"/>
      <p:bold r:id="rId82"/>
    </p:embeddedFont>
    <p:embeddedFont>
      <p:font typeface="Glitten" pitchFamily="50" charset="0"/>
      <p:regular r:id="rId83"/>
    </p:embeddedFont>
    <p:embeddedFont>
      <p:font typeface="Inter Tight" panose="020B0604020202020204" charset="0"/>
      <p:regular r:id="rId84"/>
      <p:bold r:id="rId85"/>
      <p:italic r:id="rId86"/>
      <p:boldItalic r:id="rId87"/>
    </p:embeddedFont>
    <p:embeddedFont>
      <p:font typeface="Inter Tight Light" panose="020B0604020202020204" charset="0"/>
      <p:regular r:id="rId88"/>
      <p:bold r:id="rId89"/>
      <p:italic r:id="rId90"/>
      <p:boldItalic r:id="rId91"/>
    </p:embeddedFont>
    <p:embeddedFont>
      <p:font typeface="Inter Tight Medium" panose="020B0604020202020204" charset="0"/>
      <p:regular r:id="rId92"/>
      <p:bold r:id="rId93"/>
      <p:italic r:id="rId94"/>
      <p:boldItalic r:id="rId95"/>
    </p:embeddedFont>
    <p:embeddedFont>
      <p:font typeface="Inter Tight SemiBold" panose="020B0604020202020204" charset="0"/>
      <p:bold r:id="rId96"/>
    </p:embeddedFont>
    <p:embeddedFont>
      <p:font typeface="Lora" pitchFamily="2" charset="0"/>
      <p:regular r:id="rId97"/>
      <p:bold r:id="rId98"/>
      <p:italic r:id="rId99"/>
      <p:boldItalic r:id="rId100"/>
    </p:embeddedFont>
    <p:embeddedFont>
      <p:font typeface="Qurova DEMO Med" pitchFamily="50" charset="0"/>
      <p:regular r:id="rId10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B7D"/>
    <a:srgbClr val="A8D08D"/>
    <a:srgbClr val="05050F"/>
    <a:srgbClr val="FF6600"/>
    <a:srgbClr val="140FB4"/>
    <a:srgbClr val="0D17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95112B-359D-4307-BB43-7D9A8EF1CCF3}">
  <a:tblStyle styleId="{9F95112B-359D-4307-BB43-7D9A8EF1CC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2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font" Target="fonts/font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font" Target="fonts/font9.fntdata"/><Relationship Id="rId95" Type="http://schemas.openxmlformats.org/officeDocument/2006/relationships/font" Target="fonts/font14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font" Target="fonts/font7.fntdata"/><Relationship Id="rId91" Type="http://schemas.openxmlformats.org/officeDocument/2006/relationships/font" Target="fonts/font10.fntdata"/><Relationship Id="rId96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94" Type="http://schemas.openxmlformats.org/officeDocument/2006/relationships/font" Target="fonts/font13.fntdata"/><Relationship Id="rId99" Type="http://schemas.openxmlformats.org/officeDocument/2006/relationships/font" Target="fonts/font18.fntdata"/><Relationship Id="rId101" Type="http://schemas.openxmlformats.org/officeDocument/2006/relationships/font" Target="fonts/font2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16.fntdata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1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font" Target="fonts/font19.fntdata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12.fntdata"/><Relationship Id="rId98" Type="http://schemas.openxmlformats.org/officeDocument/2006/relationships/font" Target="fonts/font1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rvarajsinh vaghela" userId="b6da04b23e00f57b" providerId="LiveId" clId="{A46A47C0-16F1-45C7-AB9F-9546371DA436}"/>
    <pc:docChg chg="undo redo custSel addSld delSld modSld sldOrd delMainMaster">
      <pc:chgData name="purvarajsinh vaghela" userId="b6da04b23e00f57b" providerId="LiveId" clId="{A46A47C0-16F1-45C7-AB9F-9546371DA436}" dt="2026-02-05T03:13:41.404" v="1733" actId="2165"/>
      <pc:docMkLst>
        <pc:docMk/>
      </pc:docMkLst>
      <pc:sldChg chg="addSp delSp modSp mod">
        <pc:chgData name="purvarajsinh vaghela" userId="b6da04b23e00f57b" providerId="LiveId" clId="{A46A47C0-16F1-45C7-AB9F-9546371DA436}" dt="2026-01-10T10:14:45.717" v="1475" actId="1076"/>
        <pc:sldMkLst>
          <pc:docMk/>
          <pc:sldMk cId="0" sldId="256"/>
        </pc:sldMkLst>
        <pc:spChg chg="add mod">
          <ac:chgData name="purvarajsinh vaghela" userId="b6da04b23e00f57b" providerId="LiveId" clId="{A46A47C0-16F1-45C7-AB9F-9546371DA436}" dt="2026-01-10T08:13:03.670" v="280" actId="14100"/>
          <ac:spMkLst>
            <pc:docMk/>
            <pc:sldMk cId="0" sldId="256"/>
            <ac:spMk id="3" creationId="{D0571B66-19CB-0C0B-7DAC-A459583171E3}"/>
          </ac:spMkLst>
        </pc:spChg>
        <pc:spChg chg="mod">
          <ac:chgData name="purvarajsinh vaghela" userId="b6da04b23e00f57b" providerId="LiveId" clId="{A46A47C0-16F1-45C7-AB9F-9546371DA436}" dt="2026-01-10T10:14:45.717" v="1475" actId="1076"/>
          <ac:spMkLst>
            <pc:docMk/>
            <pc:sldMk cId="0" sldId="256"/>
            <ac:spMk id="155" creationId="{00000000-0000-0000-0000-000000000000}"/>
          </ac:spMkLst>
        </pc:spChg>
        <pc:spChg chg="mod">
          <ac:chgData name="purvarajsinh vaghela" userId="b6da04b23e00f57b" providerId="LiveId" clId="{A46A47C0-16F1-45C7-AB9F-9546371DA436}" dt="2026-01-08T08:23:31.085" v="37" actId="1076"/>
          <ac:spMkLst>
            <pc:docMk/>
            <pc:sldMk cId="0" sldId="256"/>
            <ac:spMk id="156" creationId="{00000000-0000-0000-0000-000000000000}"/>
          </ac:spMkLst>
        </pc:spChg>
      </pc:sldChg>
      <pc:sldChg chg="addSp delSp modSp mod ord">
        <pc:chgData name="purvarajsinh vaghela" userId="b6da04b23e00f57b" providerId="LiveId" clId="{A46A47C0-16F1-45C7-AB9F-9546371DA436}" dt="2026-01-10T10:51:18.281" v="1663" actId="14100"/>
        <pc:sldMkLst>
          <pc:docMk/>
          <pc:sldMk cId="0" sldId="258"/>
        </pc:sldMkLst>
        <pc:spChg chg="add mod">
          <ac:chgData name="purvarajsinh vaghela" userId="b6da04b23e00f57b" providerId="LiveId" clId="{A46A47C0-16F1-45C7-AB9F-9546371DA436}" dt="2026-01-10T10:42:03.957" v="1625" actId="1076"/>
          <ac:spMkLst>
            <pc:docMk/>
            <pc:sldMk cId="0" sldId="258"/>
            <ac:spMk id="36" creationId="{E835AC0F-D310-1ECE-E152-63E54B735E0B}"/>
          </ac:spMkLst>
        </pc:spChg>
        <pc:picChg chg="add mod">
          <ac:chgData name="purvarajsinh vaghela" userId="b6da04b23e00f57b" providerId="LiveId" clId="{A46A47C0-16F1-45C7-AB9F-9546371DA436}" dt="2026-01-10T10:51:18.281" v="1663" actId="14100"/>
          <ac:picMkLst>
            <pc:docMk/>
            <pc:sldMk cId="0" sldId="258"/>
            <ac:picMk id="46" creationId="{FB3B1136-1DF7-2A60-C581-1B33E48C52ED}"/>
          </ac:picMkLst>
        </pc:picChg>
      </pc:sldChg>
      <pc:sldChg chg="addSp delSp modSp mod ord modClrScheme chgLayout modNotes">
        <pc:chgData name="purvarajsinh vaghela" userId="b6da04b23e00f57b" providerId="LiveId" clId="{A46A47C0-16F1-45C7-AB9F-9546371DA436}" dt="2026-01-10T09:44:45.700" v="1203" actId="1076"/>
        <pc:sldMkLst>
          <pc:docMk/>
          <pc:sldMk cId="0" sldId="262"/>
        </pc:sldMkLst>
        <pc:spChg chg="add mod">
          <ac:chgData name="purvarajsinh vaghela" userId="b6da04b23e00f57b" providerId="LiveId" clId="{A46A47C0-16F1-45C7-AB9F-9546371DA436}" dt="2026-01-10T09:44:45.700" v="1203" actId="1076"/>
          <ac:spMkLst>
            <pc:docMk/>
            <pc:sldMk cId="0" sldId="262"/>
            <ac:spMk id="19" creationId="{DD58A3BA-E046-0E3E-C017-C7C0D752F00E}"/>
          </ac:spMkLst>
        </pc:spChg>
        <pc:graphicFrameChg chg="add mod modGraphic">
          <ac:chgData name="purvarajsinh vaghela" userId="b6da04b23e00f57b" providerId="LiveId" clId="{A46A47C0-16F1-45C7-AB9F-9546371DA436}" dt="2026-01-10T09:43:52.994" v="1202" actId="13240"/>
          <ac:graphicFrameMkLst>
            <pc:docMk/>
            <pc:sldMk cId="0" sldId="262"/>
            <ac:graphicFrameMk id="20" creationId="{48D4DF54-EDBF-08CF-1990-E9FECBE22E3F}"/>
          </ac:graphicFrameMkLst>
        </pc:graphicFrameChg>
      </pc:sldChg>
      <pc:sldChg chg="addSp delSp modSp mod ord">
        <pc:chgData name="purvarajsinh vaghela" userId="b6da04b23e00f57b" providerId="LiveId" clId="{A46A47C0-16F1-45C7-AB9F-9546371DA436}" dt="2026-01-10T10:28:59.462" v="1538" actId="1076"/>
        <pc:sldMkLst>
          <pc:docMk/>
          <pc:sldMk cId="0" sldId="265"/>
        </pc:sldMkLst>
        <pc:spChg chg="add mod">
          <ac:chgData name="purvarajsinh vaghela" userId="b6da04b23e00f57b" providerId="LiveId" clId="{A46A47C0-16F1-45C7-AB9F-9546371DA436}" dt="2026-01-10T10:28:59.462" v="1538" actId="1076"/>
          <ac:spMkLst>
            <pc:docMk/>
            <pc:sldMk cId="0" sldId="265"/>
            <ac:spMk id="12" creationId="{223F8857-7EDA-C519-13AF-5667D9A8FA4A}"/>
          </ac:spMkLst>
        </pc:spChg>
      </pc:sldChg>
      <pc:sldChg chg="addSp delSp modSp add mod">
        <pc:chgData name="purvarajsinh vaghela" userId="b6da04b23e00f57b" providerId="LiveId" clId="{A46A47C0-16F1-45C7-AB9F-9546371DA436}" dt="2026-01-12T04:17:56.767" v="1730"/>
        <pc:sldMkLst>
          <pc:docMk/>
          <pc:sldMk cId="11376192" sldId="288"/>
        </pc:sldMkLst>
        <pc:spChg chg="add mod">
          <ac:chgData name="purvarajsinh vaghela" userId="b6da04b23e00f57b" providerId="LiveId" clId="{A46A47C0-16F1-45C7-AB9F-9546371DA436}" dt="2026-01-12T04:17:56.767" v="1730"/>
          <ac:spMkLst>
            <pc:docMk/>
            <pc:sldMk cId="11376192" sldId="288"/>
            <ac:spMk id="20" creationId="{E0A7391C-CC1F-82A3-5781-3AC9A9906022}"/>
          </ac:spMkLst>
        </pc:spChg>
        <pc:spChg chg="mod">
          <ac:chgData name="purvarajsinh vaghela" userId="b6da04b23e00f57b" providerId="LiveId" clId="{A46A47C0-16F1-45C7-AB9F-9546371DA436}" dt="2026-01-10T08:28:16.667" v="458" actId="14100"/>
          <ac:spMkLst>
            <pc:docMk/>
            <pc:sldMk cId="11376192" sldId="288"/>
            <ac:spMk id="253" creationId="{502123C3-5CAE-CA0E-76F1-315405D1A2E1}"/>
          </ac:spMkLst>
        </pc:spChg>
      </pc:sldChg>
      <pc:sldChg chg="addSp delSp modSp add mod">
        <pc:chgData name="purvarajsinh vaghela" userId="b6da04b23e00f57b" providerId="LiveId" clId="{A46A47C0-16F1-45C7-AB9F-9546371DA436}" dt="2026-02-05T03:13:41.404" v="1733" actId="2165"/>
        <pc:sldMkLst>
          <pc:docMk/>
          <pc:sldMk cId="1751651726" sldId="289"/>
        </pc:sldMkLst>
        <pc:spChg chg="mod">
          <ac:chgData name="purvarajsinh vaghela" userId="b6da04b23e00f57b" providerId="LiveId" clId="{A46A47C0-16F1-45C7-AB9F-9546371DA436}" dt="2026-01-10T08:20:40.414" v="303" actId="14100"/>
          <ac:spMkLst>
            <pc:docMk/>
            <pc:sldMk cId="1751651726" sldId="289"/>
            <ac:spMk id="19" creationId="{DAC756D1-D0E3-79E8-C2AE-BA6B4704B673}"/>
          </ac:spMkLst>
        </pc:spChg>
        <pc:graphicFrameChg chg="add mod modGraphic">
          <ac:chgData name="purvarajsinh vaghela" userId="b6da04b23e00f57b" providerId="LiveId" clId="{A46A47C0-16F1-45C7-AB9F-9546371DA436}" dt="2026-02-05T03:13:41.404" v="1733" actId="2165"/>
          <ac:graphicFrameMkLst>
            <pc:docMk/>
            <pc:sldMk cId="1751651726" sldId="289"/>
            <ac:graphicFrameMk id="2" creationId="{1DCC7FF9-58B0-B87B-0943-75BC54970F3B}"/>
          </ac:graphicFrameMkLst>
        </pc:graphicFrameChg>
      </pc:sldChg>
      <pc:sldChg chg="addSp delSp modSp add mod">
        <pc:chgData name="purvarajsinh vaghela" userId="b6da04b23e00f57b" providerId="LiveId" clId="{A46A47C0-16F1-45C7-AB9F-9546371DA436}" dt="2026-01-10T09:02:22.022" v="889" actId="1076"/>
        <pc:sldMkLst>
          <pc:docMk/>
          <pc:sldMk cId="837680389" sldId="290"/>
        </pc:sldMkLst>
        <pc:spChg chg="add mod">
          <ac:chgData name="purvarajsinh vaghela" userId="b6da04b23e00f57b" providerId="LiveId" clId="{A46A47C0-16F1-45C7-AB9F-9546371DA436}" dt="2026-01-10T09:02:22.022" v="889" actId="1076"/>
          <ac:spMkLst>
            <pc:docMk/>
            <pc:sldMk cId="837680389" sldId="290"/>
            <ac:spMk id="26" creationId="{FB09EAE4-B132-0AB6-5733-A5DD3710AF1A}"/>
          </ac:spMkLst>
        </pc:spChg>
        <pc:spChg chg="add mod">
          <ac:chgData name="purvarajsinh vaghela" userId="b6da04b23e00f57b" providerId="LiveId" clId="{A46A47C0-16F1-45C7-AB9F-9546371DA436}" dt="2026-01-10T09:02:12.593" v="886" actId="14100"/>
          <ac:spMkLst>
            <pc:docMk/>
            <pc:sldMk cId="837680389" sldId="290"/>
            <ac:spMk id="275" creationId="{00000000-0000-0000-0000-000000000000}"/>
          </ac:spMkLst>
        </pc:spChg>
      </pc:sldChg>
      <pc:sldChg chg="addSp modSp add mod">
        <pc:chgData name="purvarajsinh vaghela" userId="b6da04b23e00f57b" providerId="LiveId" clId="{A46A47C0-16F1-45C7-AB9F-9546371DA436}" dt="2026-01-10T09:08:14.610" v="952" actId="1076"/>
        <pc:sldMkLst>
          <pc:docMk/>
          <pc:sldMk cId="2378806993" sldId="291"/>
        </pc:sldMkLst>
        <pc:spChg chg="add mod">
          <ac:chgData name="purvarajsinh vaghela" userId="b6da04b23e00f57b" providerId="LiveId" clId="{A46A47C0-16F1-45C7-AB9F-9546371DA436}" dt="2026-01-10T09:08:02.170" v="951" actId="1076"/>
          <ac:spMkLst>
            <pc:docMk/>
            <pc:sldMk cId="2378806993" sldId="291"/>
            <ac:spMk id="2" creationId="{08C8664C-CA1B-26C1-307A-00ECC9B9C860}"/>
          </ac:spMkLst>
        </pc:spChg>
        <pc:spChg chg="mod">
          <ac:chgData name="purvarajsinh vaghela" userId="b6da04b23e00f57b" providerId="LiveId" clId="{A46A47C0-16F1-45C7-AB9F-9546371DA436}" dt="2026-01-10T09:08:14.610" v="952" actId="1076"/>
          <ac:spMkLst>
            <pc:docMk/>
            <pc:sldMk cId="2378806993" sldId="291"/>
            <ac:spMk id="26" creationId="{960680AD-C316-E6F0-ADD8-17A1077407A7}"/>
          </ac:spMkLst>
        </pc:spChg>
        <pc:spChg chg="mod">
          <ac:chgData name="purvarajsinh vaghela" userId="b6da04b23e00f57b" providerId="LiveId" clId="{A46A47C0-16F1-45C7-AB9F-9546371DA436}" dt="2026-01-10T09:04:53.975" v="895" actId="14100"/>
          <ac:spMkLst>
            <pc:docMk/>
            <pc:sldMk cId="2378806993" sldId="291"/>
            <ac:spMk id="275" creationId="{F0017226-30BA-1EA4-2EC7-4CF3BB215587}"/>
          </ac:spMkLst>
        </pc:spChg>
      </pc:sldChg>
      <pc:sldChg chg="delSp modSp add mod">
        <pc:chgData name="purvarajsinh vaghela" userId="b6da04b23e00f57b" providerId="LiveId" clId="{A46A47C0-16F1-45C7-AB9F-9546371DA436}" dt="2026-01-10T09:10:56.253" v="977" actId="1076"/>
        <pc:sldMkLst>
          <pc:docMk/>
          <pc:sldMk cId="2052379114" sldId="292"/>
        </pc:sldMkLst>
        <pc:spChg chg="mod">
          <ac:chgData name="purvarajsinh vaghela" userId="b6da04b23e00f57b" providerId="LiveId" clId="{A46A47C0-16F1-45C7-AB9F-9546371DA436}" dt="2026-01-10T09:10:53.866" v="976" actId="1076"/>
          <ac:spMkLst>
            <pc:docMk/>
            <pc:sldMk cId="2052379114" sldId="292"/>
            <ac:spMk id="26" creationId="{5D42553F-89CF-35AD-CBA5-4CB79727855F}"/>
          </ac:spMkLst>
        </pc:spChg>
        <pc:spChg chg="mod">
          <ac:chgData name="purvarajsinh vaghela" userId="b6da04b23e00f57b" providerId="LiveId" clId="{A46A47C0-16F1-45C7-AB9F-9546371DA436}" dt="2026-01-10T09:10:56.253" v="977" actId="1076"/>
          <ac:spMkLst>
            <pc:docMk/>
            <pc:sldMk cId="2052379114" sldId="292"/>
            <ac:spMk id="275" creationId="{DD248241-8B6A-04E6-B7F1-5DD6F56BC6E6}"/>
          </ac:spMkLst>
        </pc:spChg>
      </pc:sldChg>
      <pc:sldChg chg="addSp modSp add mod">
        <pc:chgData name="purvarajsinh vaghela" userId="b6da04b23e00f57b" providerId="LiveId" clId="{A46A47C0-16F1-45C7-AB9F-9546371DA436}" dt="2026-01-10T09:16:07.464" v="1033" actId="1076"/>
        <pc:sldMkLst>
          <pc:docMk/>
          <pc:sldMk cId="2862669575" sldId="293"/>
        </pc:sldMkLst>
        <pc:spChg chg="add mod">
          <ac:chgData name="purvarajsinh vaghela" userId="b6da04b23e00f57b" providerId="LiveId" clId="{A46A47C0-16F1-45C7-AB9F-9546371DA436}" dt="2026-01-10T09:16:07.464" v="1033" actId="1076"/>
          <ac:spMkLst>
            <pc:docMk/>
            <pc:sldMk cId="2862669575" sldId="293"/>
            <ac:spMk id="2" creationId="{7C70B7C4-4610-4C6F-5881-15D1E62B8E99}"/>
          </ac:spMkLst>
        </pc:spChg>
        <pc:spChg chg="mod">
          <ac:chgData name="purvarajsinh vaghela" userId="b6da04b23e00f57b" providerId="LiveId" clId="{A46A47C0-16F1-45C7-AB9F-9546371DA436}" dt="2026-01-10T09:16:07.464" v="1033" actId="1076"/>
          <ac:spMkLst>
            <pc:docMk/>
            <pc:sldMk cId="2862669575" sldId="293"/>
            <ac:spMk id="26" creationId="{DEFA178E-714A-7B37-33D2-E7B989C3E087}"/>
          </ac:spMkLst>
        </pc:spChg>
        <pc:spChg chg="mod">
          <ac:chgData name="purvarajsinh vaghela" userId="b6da04b23e00f57b" providerId="LiveId" clId="{A46A47C0-16F1-45C7-AB9F-9546371DA436}" dt="2026-01-10T09:15:57.855" v="1032" actId="1076"/>
          <ac:spMkLst>
            <pc:docMk/>
            <pc:sldMk cId="2862669575" sldId="293"/>
            <ac:spMk id="275" creationId="{11A70F6C-AEE3-41F7-EDD5-D6B4D39F0971}"/>
          </ac:spMkLst>
        </pc:spChg>
      </pc:sldChg>
      <pc:sldChg chg="addSp delSp modSp add mod">
        <pc:chgData name="purvarajsinh vaghela" userId="b6da04b23e00f57b" providerId="LiveId" clId="{A46A47C0-16F1-45C7-AB9F-9546371DA436}" dt="2026-01-10T09:26:16.759" v="1135" actId="164"/>
        <pc:sldMkLst>
          <pc:docMk/>
          <pc:sldMk cId="1327455540" sldId="294"/>
        </pc:sldMkLst>
        <pc:spChg chg="add mod">
          <ac:chgData name="purvarajsinh vaghela" userId="b6da04b23e00f57b" providerId="LiveId" clId="{A46A47C0-16F1-45C7-AB9F-9546371DA436}" dt="2026-01-10T09:26:16.759" v="1135" actId="164"/>
          <ac:spMkLst>
            <pc:docMk/>
            <pc:sldMk cId="1327455540" sldId="294"/>
            <ac:spMk id="3" creationId="{9D650F81-44D1-68A9-0D74-8E968553D455}"/>
          </ac:spMkLst>
        </pc:spChg>
        <pc:spChg chg="add mod">
          <ac:chgData name="purvarajsinh vaghela" userId="b6da04b23e00f57b" providerId="LiveId" clId="{A46A47C0-16F1-45C7-AB9F-9546371DA436}" dt="2026-01-10T09:26:16.759" v="1135" actId="164"/>
          <ac:spMkLst>
            <pc:docMk/>
            <pc:sldMk cId="1327455540" sldId="294"/>
            <ac:spMk id="5" creationId="{64392F1B-B07E-7F5C-6AED-73238D067076}"/>
          </ac:spMkLst>
        </pc:spChg>
        <pc:spChg chg="mod">
          <ac:chgData name="purvarajsinh vaghela" userId="b6da04b23e00f57b" providerId="LiveId" clId="{A46A47C0-16F1-45C7-AB9F-9546371DA436}" dt="2026-01-10T09:23:51.775" v="1107" actId="1076"/>
          <ac:spMkLst>
            <pc:docMk/>
            <pc:sldMk cId="1327455540" sldId="294"/>
            <ac:spMk id="275" creationId="{6C2C3933-C2DD-6177-2787-A5769364219B}"/>
          </ac:spMkLst>
        </pc:spChg>
        <pc:grpChg chg="add mod">
          <ac:chgData name="purvarajsinh vaghela" userId="b6da04b23e00f57b" providerId="LiveId" clId="{A46A47C0-16F1-45C7-AB9F-9546371DA436}" dt="2026-01-10T09:26:16.759" v="1135" actId="164"/>
          <ac:grpSpMkLst>
            <pc:docMk/>
            <pc:sldMk cId="1327455540" sldId="294"/>
            <ac:grpSpMk id="6" creationId="{37F3BACB-580C-6230-87CE-FDDCCD2AE420}"/>
          </ac:grpSpMkLst>
        </pc:grpChg>
      </pc:sldChg>
      <pc:sldChg chg="addSp delSp modSp add mod">
        <pc:chgData name="purvarajsinh vaghela" userId="b6da04b23e00f57b" providerId="LiveId" clId="{A46A47C0-16F1-45C7-AB9F-9546371DA436}" dt="2026-01-12T04:17:42.149" v="1715" actId="20577"/>
        <pc:sldMkLst>
          <pc:docMk/>
          <pc:sldMk cId="3765955913" sldId="295"/>
        </pc:sldMkLst>
        <pc:spChg chg="add mod">
          <ac:chgData name="purvarajsinh vaghela" userId="b6da04b23e00f57b" providerId="LiveId" clId="{A46A47C0-16F1-45C7-AB9F-9546371DA436}" dt="2026-01-10T09:41:07.885" v="1197" actId="207"/>
          <ac:spMkLst>
            <pc:docMk/>
            <pc:sldMk cId="3765955913" sldId="295"/>
            <ac:spMk id="3" creationId="{217D1CFF-29FC-40E2-7C2A-2B39F5CD189E}"/>
          </ac:spMkLst>
        </pc:spChg>
        <pc:spChg chg="add mod">
          <ac:chgData name="purvarajsinh vaghela" userId="b6da04b23e00f57b" providerId="LiveId" clId="{A46A47C0-16F1-45C7-AB9F-9546371DA436}" dt="2026-01-12T04:17:42.149" v="1715" actId="20577"/>
          <ac:spMkLst>
            <pc:docMk/>
            <pc:sldMk cId="3765955913" sldId="295"/>
            <ac:spMk id="4" creationId="{D13F7F84-6036-CD7B-E80C-7AC353632890}"/>
          </ac:spMkLst>
        </pc:spChg>
        <pc:spChg chg="mod">
          <ac:chgData name="purvarajsinh vaghela" userId="b6da04b23e00f57b" providerId="LiveId" clId="{A46A47C0-16F1-45C7-AB9F-9546371DA436}" dt="2026-01-10T09:36:23.146" v="1149" actId="255"/>
          <ac:spMkLst>
            <pc:docMk/>
            <pc:sldMk cId="3765955913" sldId="295"/>
            <ac:spMk id="19" creationId="{E9F05FE4-A644-F6BE-EBF6-C8179DBDCE36}"/>
          </ac:spMkLst>
        </pc:spChg>
      </pc:sldChg>
      <pc:sldChg chg="addSp delSp modSp add mod">
        <pc:chgData name="purvarajsinh vaghela" userId="b6da04b23e00f57b" providerId="LiveId" clId="{A46A47C0-16F1-45C7-AB9F-9546371DA436}" dt="2026-01-10T09:48:49.208" v="1253" actId="1076"/>
        <pc:sldMkLst>
          <pc:docMk/>
          <pc:sldMk cId="3539911882" sldId="296"/>
        </pc:sldMkLst>
        <pc:spChg chg="mod">
          <ac:chgData name="purvarajsinh vaghela" userId="b6da04b23e00f57b" providerId="LiveId" clId="{A46A47C0-16F1-45C7-AB9F-9546371DA436}" dt="2026-01-10T09:48:49.208" v="1253" actId="1076"/>
          <ac:spMkLst>
            <pc:docMk/>
            <pc:sldMk cId="3539911882" sldId="296"/>
            <ac:spMk id="4" creationId="{B6CC8379-9DD1-898E-22C4-A9FA7666F664}"/>
          </ac:spMkLst>
        </pc:spChg>
        <pc:spChg chg="mod">
          <ac:chgData name="purvarajsinh vaghela" userId="b6da04b23e00f57b" providerId="LiveId" clId="{A46A47C0-16F1-45C7-AB9F-9546371DA436}" dt="2026-01-10T09:45:41.031" v="1208" actId="2711"/>
          <ac:spMkLst>
            <pc:docMk/>
            <pc:sldMk cId="3539911882" sldId="296"/>
            <ac:spMk id="19" creationId="{260ADA87-6029-AB28-B47D-3EB884595751}"/>
          </ac:spMkLst>
        </pc:spChg>
      </pc:sldChg>
      <pc:sldChg chg="addSp delSp modSp add mod">
        <pc:chgData name="purvarajsinh vaghela" userId="b6da04b23e00f57b" providerId="LiveId" clId="{A46A47C0-16F1-45C7-AB9F-9546371DA436}" dt="2026-01-10T09:57:58.777" v="1325" actId="1076"/>
        <pc:sldMkLst>
          <pc:docMk/>
          <pc:sldMk cId="2580823971" sldId="297"/>
        </pc:sldMkLst>
        <pc:spChg chg="add mod">
          <ac:chgData name="purvarajsinh vaghela" userId="b6da04b23e00f57b" providerId="LiveId" clId="{A46A47C0-16F1-45C7-AB9F-9546371DA436}" dt="2026-01-10T09:56:46.418" v="1324" actId="1076"/>
          <ac:spMkLst>
            <pc:docMk/>
            <pc:sldMk cId="2580823971" sldId="297"/>
            <ac:spMk id="2" creationId="{D495F9FA-393F-E6D8-ED77-9CA81E72444F}"/>
          </ac:spMkLst>
        </pc:spChg>
        <pc:spChg chg="add mod">
          <ac:chgData name="purvarajsinh vaghela" userId="b6da04b23e00f57b" providerId="LiveId" clId="{A46A47C0-16F1-45C7-AB9F-9546371DA436}" dt="2026-01-10T09:56:46.418" v="1324" actId="1076"/>
          <ac:spMkLst>
            <pc:docMk/>
            <pc:sldMk cId="2580823971" sldId="297"/>
            <ac:spMk id="3" creationId="{BE058BD4-524D-77E5-2D8D-30626FDF005D}"/>
          </ac:spMkLst>
        </pc:spChg>
        <pc:spChg chg="mod">
          <ac:chgData name="purvarajsinh vaghela" userId="b6da04b23e00f57b" providerId="LiveId" clId="{A46A47C0-16F1-45C7-AB9F-9546371DA436}" dt="2026-01-10T09:57:58.777" v="1325" actId="1076"/>
          <ac:spMkLst>
            <pc:docMk/>
            <pc:sldMk cId="2580823971" sldId="297"/>
            <ac:spMk id="19" creationId="{5F02E817-11A1-E78C-8642-FD9664FF9476}"/>
          </ac:spMkLst>
        </pc:spChg>
      </pc:sldChg>
      <pc:sldChg chg="addSp delSp modSp add mod">
        <pc:chgData name="purvarajsinh vaghela" userId="b6da04b23e00f57b" providerId="LiveId" clId="{A46A47C0-16F1-45C7-AB9F-9546371DA436}" dt="2026-01-10T10:10:22.841" v="1388" actId="478"/>
        <pc:sldMkLst>
          <pc:docMk/>
          <pc:sldMk cId="747699036" sldId="298"/>
        </pc:sldMkLst>
        <pc:spChg chg="add del mod">
          <ac:chgData name="purvarajsinh vaghela" userId="b6da04b23e00f57b" providerId="LiveId" clId="{A46A47C0-16F1-45C7-AB9F-9546371DA436}" dt="2026-01-10T10:10:22.841" v="1388" actId="478"/>
          <ac:spMkLst>
            <pc:docMk/>
            <pc:sldMk cId="747699036" sldId="298"/>
            <ac:spMk id="2" creationId="{A08DDC67-D973-6D1D-F283-971B72B39C09}"/>
          </ac:spMkLst>
        </pc:spChg>
        <pc:spChg chg="mod">
          <ac:chgData name="purvarajsinh vaghela" userId="b6da04b23e00f57b" providerId="LiveId" clId="{A46A47C0-16F1-45C7-AB9F-9546371DA436}" dt="2026-01-10T10:10:22.290" v="1387" actId="1076"/>
          <ac:spMkLst>
            <pc:docMk/>
            <pc:sldMk cId="747699036" sldId="298"/>
            <ac:spMk id="3" creationId="{D2F46767-38CE-7A18-5667-DB2313638928}"/>
          </ac:spMkLst>
        </pc:spChg>
        <pc:spChg chg="mod">
          <ac:chgData name="purvarajsinh vaghela" userId="b6da04b23e00f57b" providerId="LiveId" clId="{A46A47C0-16F1-45C7-AB9F-9546371DA436}" dt="2026-01-10T09:58:35.508" v="1329" actId="2711"/>
          <ac:spMkLst>
            <pc:docMk/>
            <pc:sldMk cId="747699036" sldId="298"/>
            <ac:spMk id="19" creationId="{03F1823B-56EF-98D4-BD05-62491846B0CA}"/>
          </ac:spMkLst>
        </pc:spChg>
      </pc:sldChg>
      <pc:sldChg chg="addSp delSp modSp add mod">
        <pc:chgData name="purvarajsinh vaghela" userId="b6da04b23e00f57b" providerId="LiveId" clId="{A46A47C0-16F1-45C7-AB9F-9546371DA436}" dt="2026-01-10T10:13:30.534" v="1474" actId="20577"/>
        <pc:sldMkLst>
          <pc:docMk/>
          <pc:sldMk cId="3515504928" sldId="299"/>
        </pc:sldMkLst>
        <pc:spChg chg="mod">
          <ac:chgData name="purvarajsinh vaghela" userId="b6da04b23e00f57b" providerId="LiveId" clId="{A46A47C0-16F1-45C7-AB9F-9546371DA436}" dt="2026-01-10T10:13:30.534" v="1474" actId="20577"/>
          <ac:spMkLst>
            <pc:docMk/>
            <pc:sldMk cId="3515504928" sldId="299"/>
            <ac:spMk id="2" creationId="{98C86346-07E6-850C-B050-CEAEEA102E15}"/>
          </ac:spMkLst>
        </pc:spChg>
        <pc:spChg chg="mod">
          <ac:chgData name="purvarajsinh vaghela" userId="b6da04b23e00f57b" providerId="LiveId" clId="{A46A47C0-16F1-45C7-AB9F-9546371DA436}" dt="2026-01-10T10:12:14.445" v="1413" actId="1076"/>
          <ac:spMkLst>
            <pc:docMk/>
            <pc:sldMk cId="3515504928" sldId="299"/>
            <ac:spMk id="19" creationId="{573F7E4C-406F-C442-9175-01A59B894A6F}"/>
          </ac:spMkLst>
        </pc:spChg>
      </pc:sldChg>
      <pc:sldChg chg="modSp add mod ord">
        <pc:chgData name="purvarajsinh vaghela" userId="b6da04b23e00f57b" providerId="LiveId" clId="{A46A47C0-16F1-45C7-AB9F-9546371DA436}" dt="2026-01-10T10:47:06.020" v="1653" actId="1076"/>
        <pc:sldMkLst>
          <pc:docMk/>
          <pc:sldMk cId="3652848767" sldId="300"/>
        </pc:sldMkLst>
        <pc:spChg chg="mod">
          <ac:chgData name="purvarajsinh vaghela" userId="b6da04b23e00f57b" providerId="LiveId" clId="{A46A47C0-16F1-45C7-AB9F-9546371DA436}" dt="2026-01-10T10:47:06.020" v="1653" actId="1076"/>
          <ac:spMkLst>
            <pc:docMk/>
            <pc:sldMk cId="3652848767" sldId="300"/>
            <ac:spMk id="12" creationId="{B6DB2AA5-2183-8C8D-FCD9-0EB101D80A89}"/>
          </ac:spMkLst>
        </pc:spChg>
      </pc:sldChg>
      <pc:sldChg chg="add">
        <pc:chgData name="purvarajsinh vaghela" userId="b6da04b23e00f57b" providerId="LiveId" clId="{A46A47C0-16F1-45C7-AB9F-9546371DA436}" dt="2026-01-10T10:45:56.556" v="1635" actId="2890"/>
        <pc:sldMkLst>
          <pc:docMk/>
          <pc:sldMk cId="664588878" sldId="301"/>
        </pc:sldMkLst>
      </pc:sldChg>
      <pc:sldChg chg="addSp delSp modSp add mod">
        <pc:chgData name="purvarajsinh vaghela" userId="b6da04b23e00f57b" providerId="LiveId" clId="{A46A47C0-16F1-45C7-AB9F-9546371DA436}" dt="2026-01-10T11:07:08.219" v="1703" actId="931"/>
        <pc:sldMkLst>
          <pc:docMk/>
          <pc:sldMk cId="1543419389" sldId="302"/>
        </pc:sldMkLst>
        <pc:picChg chg="add mod">
          <ac:chgData name="purvarajsinh vaghela" userId="b6da04b23e00f57b" providerId="LiveId" clId="{A46A47C0-16F1-45C7-AB9F-9546371DA436}" dt="2026-01-10T11:07:08.219" v="1703" actId="931"/>
          <ac:picMkLst>
            <pc:docMk/>
            <pc:sldMk cId="1543419389" sldId="302"/>
            <ac:picMk id="5" creationId="{FC4E63BA-FED4-1E2D-2A40-6F8D3986F82C}"/>
          </ac:picMkLst>
        </pc:picChg>
      </pc:sldChg>
      <pc:sldMasterChg chg="delSldLayout">
        <pc:chgData name="purvarajsinh vaghela" userId="b6da04b23e00f57b" providerId="LiveId" clId="{A46A47C0-16F1-45C7-AB9F-9546371DA436}" dt="2026-01-10T11:07:09.871" v="1704" actId="47"/>
        <pc:sldMasterMkLst>
          <pc:docMk/>
          <pc:sldMasterMk cId="0" sldId="2147483672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3" name="Google Shape;153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DC56790-0890-F3EF-0D29-AD8307BE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57BFB0E-92F6-9602-5514-B2BEFAAADE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C13D6A0-E3E8-10A5-D36A-83E606EA9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7654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B45D0E9-B7A3-D0A1-ABCB-6F799EF85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9B5C0CA6-048B-D708-172A-89BDDACC0F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0FE4928-E820-20B1-B312-D1D4334F2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3158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57F5A6A-A7C4-94D1-DCFC-8E9C73805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050E9DEB-A8FF-26A2-7C8F-3F2DA0E60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729C56B9-F67A-404D-C700-28ECBCB538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44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F780F984-DCBD-39C0-58EF-EE653786D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90F98F7-FE12-3795-7775-5B9F9A8184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8708B52-CAA8-9CDE-37F1-4B3345FAD4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3372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3AA17E5F-ED40-37A0-624E-55E96A6DC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024B419B-0464-4476-5FA7-94D03C672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8C78993-8F74-3963-0CF7-AF7414783C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8739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09395DC-82A4-F0F3-820F-0D7357A2E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E89D414D-E8A8-D2E0-11FA-DDF93EFFBB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306F4E7-4FAD-42DD-AFE8-70B9DDF69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9435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7F696768-2F00-617E-0929-C00DF24A1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065645B-2EAC-7BE3-29B6-8AD7A512E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CB0B6F2-C034-1578-B01C-E96DD2384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156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CD60D49-D529-D9DF-B386-3231AA665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8B32E2BC-4076-CE38-0A98-36258A819D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BDD7BD46-FD1B-4D35-5051-624E26B3A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58132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2BC70D36-E237-3696-450C-07A13E92F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5B49565-6315-C5BE-ED03-E898DC1275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25A8DCDE-E48A-A0B2-2BEE-84601B342C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0416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1F351EB1-00E5-04A7-4D76-2B5817E3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83C8819B-F168-BD1D-F6B6-50F4E7356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CBA4C99E-8274-B3C7-7244-5AABE5779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50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FA056185-8395-338D-0A42-69447FEB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90C37AE0-7FDD-5093-360C-A7626693A4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AE336C04-22E4-9074-77E6-B4D6DC771A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4716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D36D0210-5479-26AB-2E97-C441D81C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36A561A8-62AF-857C-B0AE-CE7B3C42E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5D52213D-C2E8-6882-8230-7722A4D98C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9372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65D24E9-309D-FD85-9319-BC850D9CA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AE0CDA7-226B-4E37-A3D2-53F6C48AC9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A810CDAD-1B7A-F848-BF49-9E214C9585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43370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3366BBC6-BE81-7951-F6FF-F9FCDC5F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EF25AF1E-9AE2-F6FF-81FC-2A706A9266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8C4604D9-6F50-B8D1-07B5-436C41290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02549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12D309FE-308F-A8F7-000B-008C4D43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FFC74AAB-4CC9-1166-6068-85E9C61EF7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8DC6415D-31CF-6AE3-5B42-4CB856592B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0683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E3BF3D48-E7BF-A635-E9B2-3159AF1C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2DD7CAFC-F211-2124-CEF7-BC6C7A7BD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2995835-D865-073E-8BB3-EC4AAFC8D4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7388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17ADAA2-2AF8-785B-E2FB-9E95EC948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116E158D-AB80-985A-430D-E2274ABBD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79B0597A-872F-E5A7-7F98-0AB2133791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5245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41907C1-62EC-605E-3C7C-3318F65B8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860F87C-AF87-FC51-3E57-BF9B123EC6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640AB0D-91E7-B348-7205-9FDC1CFB6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43223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97F227A-0D19-D548-D6F1-7C4A6B30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E15EED93-FB83-760C-4D80-1FBE2A3D2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F75819EB-E4B5-2541-E09C-BCEEFEABC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739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F750D7A-91B0-0C84-F259-A0EDBFD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6F018DDB-045D-1D0D-7AC3-0CC018C0E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26C83EF6-3393-B7E5-9C1B-E99036D03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9081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123A8AEC-61BA-4777-1F57-A31A1B72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DE82832-42B8-4B6C-79E5-A6F40BB4F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DCF257B-77B3-186A-4749-B907E4D9D5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3983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F019D03-5CED-A5EC-08C4-DF41C2FB7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3C43296-4DCC-4B32-D5F1-DE2B083851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513FB6A-68F5-7651-A6C8-B0AA37084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7753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D5965B25-A372-3D45-F501-6E27B525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0ED98FB5-8801-D7F7-5893-BCD1506C2C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9C6E15CB-5386-AD3C-17C6-C44DA0F368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4735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621DC4A0-D4F4-5558-627B-4F7AFE0F3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25F9DD4C-656D-7E31-5BF6-516EC3B61B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EFCEEEE-6F1C-9063-DA8F-95204840AA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5945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3DD6FACC-A2B8-2E62-6355-0FE1052E8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8776ED79-1C1C-F3E4-C8EF-9139DDC673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793CF91B-F7B2-0052-B159-3CEF1E7A7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06820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C28BBC92-5830-97B9-5DF8-0A4E9BEC7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70C24B48-D988-0B3E-0729-3057D5E847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3D297EA-E3D6-9623-BA4D-6024E023B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7200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13A7E99-E94A-D5B4-4D99-8214B9F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CC8949D9-99A6-5173-C439-FCF07EEC1F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ADF7652-01DF-0189-E301-C93A721DB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3548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F1E39AF-5E7C-8D5E-8C55-A225E3C69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A7756ED6-6C73-964B-40ED-5D374D8AB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4434EB26-1EE4-9D49-EBF2-4D7D164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09536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8CE9B5A0-81FB-FB17-18C3-53362F6A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56CBF821-91DF-C3EC-B6F2-0752DF4818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58209C16-72ED-F562-FB8D-DD6B481751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21611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A669DB5C-03A5-1289-5BAF-22FF45A9B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284E475-FF84-5478-C9C6-8F74A8AB0A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5E444CC-D721-E83D-C443-A48C5E124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4694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DE0C6227-9FBD-34BC-99B4-19384D76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0F7047A4-B66E-4271-163A-C66DBB3A5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4F10FC81-523A-B7EE-E76A-A8CEF1EE81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71719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0CB6C824-0F4F-B78E-8CBF-1FD0A914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840F9FD5-E590-1108-DF2A-6798D6EF6E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83F35569-FD9E-01DC-DB27-BFAEECA2D7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3612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2FABC6B-9AAE-A699-12E5-BB15DF73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B1690A9E-636A-0CFA-08DA-8DA65D618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DF93A06-D42C-007D-28AE-0CD0A22266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0477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283FA096-B087-6D12-5B13-ABFC25A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7E100152-5BCB-2811-CFD8-97348882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C5AB2DFA-DCE6-BA5B-8161-AF93BEB189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80161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A211FE96-C02B-CA9C-27F9-6C2DF829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974F352E-E8D0-92F3-3BC5-FF9EF76538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3A5FA9A1-6AB4-F1E2-C863-8A5C6D0D0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3154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>
          <a:extLst>
            <a:ext uri="{FF2B5EF4-FFF2-40B4-BE49-F238E27FC236}">
              <a16:creationId xmlns:a16="http://schemas.microsoft.com/office/drawing/2014/main" id="{3492680D-AEF0-2B54-48F6-F78C9FD09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c9adec299_1_4682:notes">
            <a:extLst>
              <a:ext uri="{FF2B5EF4-FFF2-40B4-BE49-F238E27FC236}">
                <a16:creationId xmlns:a16="http://schemas.microsoft.com/office/drawing/2014/main" id="{5E196126-FCF6-E4A0-7C5B-465D0265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0" name="Google Shape;290;g3ac9adec299_1_4682:notes">
            <a:extLst>
              <a:ext uri="{FF2B5EF4-FFF2-40B4-BE49-F238E27FC236}">
                <a16:creationId xmlns:a16="http://schemas.microsoft.com/office/drawing/2014/main" id="{A8E2FCE7-D64A-0992-5605-C4E46A142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7219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513A7C4-5AF3-F45E-19EF-B5C5EB3F6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D582E6E-9AEC-950B-C725-E619B33439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D661FA9B-B5F5-0095-2E7A-50F23A526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65322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DC77938-A966-628A-03FA-2BA85DB94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4BA45642-FA8F-1E8A-E3A8-AC7D0ACD1E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04E28005-B931-CA48-F6CA-5D7A6ACA30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6547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9A6A04A9-558A-6A25-1608-B19114D4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7B5681E-B0CF-1E54-BE27-AE9B300B06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B44C338-12F7-7A71-5507-45B5926962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61178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7FAF767A-2742-1445-8481-8314FCCD5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B3CC33F0-4881-DC4F-515B-FDD08719EF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09ACEF7-47CA-56E3-CCB4-73C6EF59F9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13822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2AD351EF-B96B-F935-195A-97BDE021D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EF67430C-AE7F-0A95-7F6C-840978A272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B447E1B-8975-5EBE-18C3-802A4F43A3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6316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0A130B27-3640-B1E9-DFDF-B845CBE50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A861487A-045C-D59E-2128-A95CF421C3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C236DD50-66E6-7701-9E92-B8DA5789EF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59351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F3A87FE6-BCE2-AA71-78C4-AE479A98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5F703C34-C8B6-6337-1663-D945FDA2F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3D7EEB7D-DCFE-9367-750E-41B9228149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60555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AA8EEC31-76DE-A726-F0E2-64BB3C22E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8037B67B-E294-B4B6-D7E4-389345BE93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06F26694-74AF-AA8F-424E-4023B3285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988340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EA46589C-5325-3190-2611-D1365D09A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C9FAA1C-3CCA-10A4-5D86-7E9909CDDB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8C34203C-3EB5-503B-8151-060B38F5C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403776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B7FBD96B-E1AA-AD7C-07A6-4B4D8FA9A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9AF7834C-0FE2-7CFC-2786-FA3EC89DDA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12E01E9D-2193-3B81-EC57-D504FF6C6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639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58D7BB25-1945-610F-D1C7-E10532841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400E9BB4-4A4E-F94A-E09D-C79902DD4F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FBB5C167-7278-A3DE-D132-25952A9060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88715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4B4A9D4D-6FD3-62D5-8AAD-25B50C67D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B6030B4B-39E2-4958-86EE-AFB6EE0D1D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1FD8ACB5-8B0F-A6F6-579E-4877E1FCCD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077575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5EEC405-2182-E878-AF37-C630194E8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3DDA223E-E63C-D04F-357A-ABEA9243D4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E47D42C2-E506-5062-B1C3-A83CBBFDE6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07695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EBD3C498-1AAF-1A6D-827E-DA3A1A600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5B527458-9367-6DC9-EB65-164AF7887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3160B483-F444-D402-4A32-8D8D6BFAC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887305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8ABD13D4-0EC8-9B99-810C-CC6F27A3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ac9adec299_1_7:notes">
            <a:extLst>
              <a:ext uri="{FF2B5EF4-FFF2-40B4-BE49-F238E27FC236}">
                <a16:creationId xmlns:a16="http://schemas.microsoft.com/office/drawing/2014/main" id="{1CF96BFD-5D5F-9C01-3542-56640C136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0" name="Google Shape;250;g3ac9adec299_1_7:notes">
            <a:extLst>
              <a:ext uri="{FF2B5EF4-FFF2-40B4-BE49-F238E27FC236}">
                <a16:creationId xmlns:a16="http://schemas.microsoft.com/office/drawing/2014/main" id="{74797F37-B89C-7F48-CCFF-37B5D9B4F1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8929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>
          <a:extLst>
            <a:ext uri="{FF2B5EF4-FFF2-40B4-BE49-F238E27FC236}">
              <a16:creationId xmlns:a16="http://schemas.microsoft.com/office/drawing/2014/main" id="{7B193582-A5EB-8F2F-D939-8985C8B14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bc298c83c_1_0:notes">
            <a:extLst>
              <a:ext uri="{FF2B5EF4-FFF2-40B4-BE49-F238E27FC236}">
                <a16:creationId xmlns:a16="http://schemas.microsoft.com/office/drawing/2014/main" id="{DA5AB293-AEF1-54F0-ABC9-26A71DA85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4" name="Google Shape;204;g3abc298c83c_1_0:notes">
            <a:extLst>
              <a:ext uri="{FF2B5EF4-FFF2-40B4-BE49-F238E27FC236}">
                <a16:creationId xmlns:a16="http://schemas.microsoft.com/office/drawing/2014/main" id="{318E7B97-B30B-5EA1-D9C8-1F83EC191E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175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11734650" cy="5143500"/>
            <a:chOff x="0" y="0"/>
            <a:chExt cx="11734650" cy="5143500"/>
          </a:xfrm>
        </p:grpSpPr>
        <p:pic>
          <p:nvPicPr>
            <p:cNvPr id="10" name="Google Shape;10;p2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03.jpg"/>
            <p:cNvPicPr preferRelativeResize="0"/>
            <p:nvPr/>
          </p:nvPicPr>
          <p:blipFill rotWithShape="1">
            <a:blip r:embed="rId3">
              <a:alphaModFix/>
            </a:blip>
            <a:srcRect t="4388" b="4379"/>
            <a:stretch/>
          </p:blipFill>
          <p:spPr>
            <a:xfrm flipH="1">
              <a:off x="3486150" y="0"/>
              <a:ext cx="8248500" cy="5143500"/>
            </a:xfrm>
            <a:prstGeom prst="plaque">
              <a:avLst>
                <a:gd name="adj" fmla="val 50000"/>
              </a:avLst>
            </a:prstGeom>
            <a:noFill/>
            <a:ln>
              <a:noFill/>
            </a:ln>
          </p:spPr>
        </p:pic>
      </p:grp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314450" y="1985975"/>
            <a:ext cx="5429400" cy="78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314450" y="2692825"/>
            <a:ext cx="5429400" cy="46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8600" y="14001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 Tight SemiBold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Darker Grotesque SemiBold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p5"/>
          <p:cNvGrpSpPr/>
          <p:nvPr/>
        </p:nvGrpSpPr>
        <p:grpSpPr>
          <a:xfrm>
            <a:off x="-2868550" y="0"/>
            <a:ext cx="12012550" cy="5143500"/>
            <a:chOff x="-2868550" y="0"/>
            <a:chExt cx="12012550" cy="5143500"/>
          </a:xfrm>
        </p:grpSpPr>
        <p:pic>
          <p:nvPicPr>
            <p:cNvPr id="26" name="Google Shape;26;p5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5" title="03.jpg"/>
            <p:cNvPicPr preferRelativeResize="0"/>
            <p:nvPr/>
          </p:nvPicPr>
          <p:blipFill rotWithShape="1">
            <a:blip r:embed="rId3">
              <a:alphaModFix/>
            </a:blip>
            <a:srcRect l="383" t="5340" r="36759" b="4456"/>
            <a:stretch/>
          </p:blipFill>
          <p:spPr>
            <a:xfrm rot="10800000">
              <a:off x="-2868550" y="0"/>
              <a:ext cx="5243700" cy="5143500"/>
            </a:xfrm>
            <a:prstGeom prst="parallelogram">
              <a:avLst>
                <a:gd name="adj" fmla="val 41520"/>
              </a:avLst>
            </a:prstGeom>
            <a:noFill/>
            <a:ln>
              <a:noFill/>
            </a:ln>
          </p:spPr>
        </p:pic>
      </p:grp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71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1"/>
          </p:nvPr>
        </p:nvSpPr>
        <p:spPr>
          <a:xfrm>
            <a:off x="1314450" y="3404250"/>
            <a:ext cx="2171700" cy="12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ora"/>
              <a:buNone/>
              <a:defRPr sz="1400" b="1">
                <a:solidFill>
                  <a:schemeClr val="dk2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Lora"/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154" y="2025899"/>
            <a:ext cx="4343700" cy="9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3"/>
          </p:nvPr>
        </p:nvSpPr>
        <p:spPr>
          <a:xfrm>
            <a:off x="4572000" y="1354850"/>
            <a:ext cx="4343700" cy="74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1400">
                <a:solidFill>
                  <a:schemeClr val="dk2"/>
                </a:solidFill>
                <a:latin typeface="Inter Tight Medium"/>
                <a:ea typeface="Inter Tight Medium"/>
                <a:cs typeface="Inter Tight Medium"/>
                <a:sym typeface="Inter Tight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4"/>
          </p:nvPr>
        </p:nvSpPr>
        <p:spPr>
          <a:xfrm>
            <a:off x="4572150" y="3741949"/>
            <a:ext cx="4343700" cy="9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5"/>
          </p:nvPr>
        </p:nvSpPr>
        <p:spPr>
          <a:xfrm>
            <a:off x="4572000" y="3070895"/>
            <a:ext cx="4343700" cy="74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1400">
                <a:solidFill>
                  <a:schemeClr val="dk2"/>
                </a:solidFill>
                <a:latin typeface="Inter Tight Medium"/>
                <a:ea typeface="Inter Tight Medium"/>
                <a:cs typeface="Inter Tight Medium"/>
                <a:sym typeface="Inter Tight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 Tight Medium"/>
              <a:buNone/>
              <a:defRPr sz="2400">
                <a:latin typeface="Inter Tight Medium"/>
                <a:ea typeface="Inter Tight Medium"/>
                <a:cs typeface="Inter Tight Medium"/>
                <a:sym typeface="Inter Tight Medium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 idx="6" hasCustomPrompt="1"/>
          </p:nvPr>
        </p:nvSpPr>
        <p:spPr>
          <a:xfrm>
            <a:off x="3894637" y="1676241"/>
            <a:ext cx="617400" cy="45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5" name="Google Shape;35;p5"/>
          <p:cNvSpPr txBox="1">
            <a:spLocks noGrp="1"/>
          </p:cNvSpPr>
          <p:nvPr>
            <p:ph type="title" idx="7" hasCustomPrompt="1"/>
          </p:nvPr>
        </p:nvSpPr>
        <p:spPr>
          <a:xfrm>
            <a:off x="3894637" y="3392279"/>
            <a:ext cx="617400" cy="45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314450" y="2382300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>
            <a:spLocks noGrp="1"/>
          </p:cNvSpPr>
          <p:nvPr>
            <p:ph type="pic" idx="2"/>
          </p:nvPr>
        </p:nvSpPr>
        <p:spPr>
          <a:xfrm>
            <a:off x="5657850" y="0"/>
            <a:ext cx="2171700" cy="3171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8"/>
          <p:cNvGrpSpPr/>
          <p:nvPr/>
        </p:nvGrpSpPr>
        <p:grpSpPr>
          <a:xfrm rot="10800000" flipH="1">
            <a:off x="0" y="0"/>
            <a:ext cx="11734650" cy="5143500"/>
            <a:chOff x="0" y="0"/>
            <a:chExt cx="11734650" cy="5143500"/>
          </a:xfrm>
        </p:grpSpPr>
        <p:pic>
          <p:nvPicPr>
            <p:cNvPr id="46" name="Google Shape;46;p8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8" title="03.jpg"/>
            <p:cNvPicPr preferRelativeResize="0"/>
            <p:nvPr/>
          </p:nvPicPr>
          <p:blipFill rotWithShape="1">
            <a:blip r:embed="rId3">
              <a:alphaModFix/>
            </a:blip>
            <a:srcRect t="4388" b="4379"/>
            <a:stretch/>
          </p:blipFill>
          <p:spPr>
            <a:xfrm flipH="1">
              <a:off x="3486150" y="0"/>
              <a:ext cx="8248500" cy="5143500"/>
            </a:xfrm>
            <a:prstGeom prst="plaque">
              <a:avLst>
                <a:gd name="adj" fmla="val 50000"/>
              </a:avLst>
            </a:prstGeom>
            <a:noFill/>
            <a:ln>
              <a:noFill/>
            </a:ln>
          </p:spPr>
        </p:pic>
      </p:grp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1314450" y="1400175"/>
            <a:ext cx="4343400" cy="234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9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2400149" y="2525100"/>
            <a:ext cx="32577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2"/>
          </p:nvPr>
        </p:nvSpPr>
        <p:spPr>
          <a:xfrm>
            <a:off x="5657851" y="2525100"/>
            <a:ext cx="32577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228600" y="4329100"/>
            <a:ext cx="3257700" cy="58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1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pic>
          <p:nvPicPr>
            <p:cNvPr id="59" name="Google Shape;59;p11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0;p11" title="01.jpg"/>
            <p:cNvPicPr preferRelativeResize="0"/>
            <p:nvPr/>
          </p:nvPicPr>
          <p:blipFill rotWithShape="1">
            <a:blip r:embed="rId3">
              <a:alphaModFix/>
            </a:blip>
            <a:srcRect r="31591"/>
            <a:stretch/>
          </p:blipFill>
          <p:spPr>
            <a:xfrm rot="-5400000" flipH="1">
              <a:off x="3141298" y="228612"/>
              <a:ext cx="4690200" cy="4686300"/>
            </a:xfrm>
            <a:prstGeom prst="ellipse">
              <a:avLst/>
            </a:prstGeom>
            <a:noFill/>
            <a:ln>
              <a:noFill/>
            </a:ln>
          </p:spPr>
        </p:pic>
      </p:grpSp>
      <p:sp>
        <p:nvSpPr>
          <p:cNvPr id="61" name="Google Shape;61;p11"/>
          <p:cNvSpPr txBox="1">
            <a:spLocks noGrp="1"/>
          </p:cNvSpPr>
          <p:nvPr>
            <p:ph type="title" hasCustomPrompt="1"/>
          </p:nvPr>
        </p:nvSpPr>
        <p:spPr>
          <a:xfrm>
            <a:off x="1314450" y="1952850"/>
            <a:ext cx="43434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>
            <a:r>
              <a:t>xx%</a:t>
            </a:r>
          </a:p>
        </p:txBody>
      </p:sp>
      <p:sp>
        <p:nvSpPr>
          <p:cNvPr id="62" name="Google Shape;62;p11"/>
          <p:cNvSpPr txBox="1">
            <a:spLocks noGrp="1"/>
          </p:cNvSpPr>
          <p:nvPr>
            <p:ph type="subTitle" idx="1"/>
          </p:nvPr>
        </p:nvSpPr>
        <p:spPr>
          <a:xfrm>
            <a:off x="1314450" y="2816250"/>
            <a:ext cx="43434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3" title="05.jpg"/>
          <p:cNvPicPr preferRelativeResize="0"/>
          <p:nvPr/>
        </p:nvPicPr>
        <p:blipFill rotWithShape="1">
          <a:blip r:embed="rId2">
            <a:alphaModFix amt="80000"/>
          </a:blip>
          <a:srcRect b="24998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1314450" y="806797"/>
            <a:ext cx="76011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50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Font typeface="Inter Tight Light"/>
              <a:buNone/>
              <a:defRPr sz="2800"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/>
          </p:nvPr>
        </p:nvSpPr>
        <p:spPr>
          <a:xfrm>
            <a:off x="228600" y="267450"/>
            <a:ext cx="4343400" cy="38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2"/>
          </p:nvPr>
        </p:nvSpPr>
        <p:spPr>
          <a:xfrm>
            <a:off x="1314450" y="1328070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3"/>
          </p:nvPr>
        </p:nvSpPr>
        <p:spPr>
          <a:xfrm>
            <a:off x="1314450" y="2370614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4"/>
          </p:nvPr>
        </p:nvSpPr>
        <p:spPr>
          <a:xfrm>
            <a:off x="1314450" y="3934431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5"/>
          </p:nvPr>
        </p:nvSpPr>
        <p:spPr>
          <a:xfrm>
            <a:off x="1314450" y="3413159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6"/>
          </p:nvPr>
        </p:nvSpPr>
        <p:spPr>
          <a:xfrm>
            <a:off x="1314450" y="1849342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7"/>
          </p:nvPr>
        </p:nvSpPr>
        <p:spPr>
          <a:xfrm>
            <a:off x="1314450" y="2891886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8" hasCustomPrompt="1"/>
          </p:nvPr>
        </p:nvSpPr>
        <p:spPr>
          <a:xfrm>
            <a:off x="228600" y="806822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9" hasCustomPrompt="1"/>
          </p:nvPr>
        </p:nvSpPr>
        <p:spPr>
          <a:xfrm>
            <a:off x="228600" y="1328080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13" hasCustomPrompt="1"/>
          </p:nvPr>
        </p:nvSpPr>
        <p:spPr>
          <a:xfrm>
            <a:off x="228600" y="1849338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14" hasCustomPrompt="1"/>
          </p:nvPr>
        </p:nvSpPr>
        <p:spPr>
          <a:xfrm>
            <a:off x="228600" y="2370596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15" hasCustomPrompt="1"/>
          </p:nvPr>
        </p:nvSpPr>
        <p:spPr>
          <a:xfrm>
            <a:off x="228600" y="2891854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16" hasCustomPrompt="1"/>
          </p:nvPr>
        </p:nvSpPr>
        <p:spPr>
          <a:xfrm>
            <a:off x="228600" y="3413112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7" hasCustomPrompt="1"/>
          </p:nvPr>
        </p:nvSpPr>
        <p:spPr>
          <a:xfrm>
            <a:off x="228600" y="3934370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8"/>
          </p:nvPr>
        </p:nvSpPr>
        <p:spPr>
          <a:xfrm>
            <a:off x="1314450" y="4455703"/>
            <a:ext cx="7588200" cy="38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5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19" hasCustomPrompt="1"/>
          </p:nvPr>
        </p:nvSpPr>
        <p:spPr>
          <a:xfrm>
            <a:off x="228600" y="4455628"/>
            <a:ext cx="1086000" cy="384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lt2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_2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9" title="02.jpg"/>
          <p:cNvPicPr preferRelativeResize="0"/>
          <p:nvPr/>
        </p:nvPicPr>
        <p:blipFill rotWithShape="1">
          <a:blip r:embed="rId2">
            <a:alphaModFix/>
          </a:blip>
          <a:srcRect t="4551" b="13151"/>
          <a:stretch/>
        </p:blipFill>
        <p:spPr>
          <a:xfrm flipH="1">
            <a:off x="0" y="0"/>
            <a:ext cx="9144000" cy="514350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9"/>
          <p:cNvSpPr txBox="1">
            <a:spLocks noGrp="1"/>
          </p:cNvSpPr>
          <p:nvPr>
            <p:ph type="title" hasCustomPrompt="1"/>
          </p:nvPr>
        </p:nvSpPr>
        <p:spPr>
          <a:xfrm>
            <a:off x="3486150" y="1406725"/>
            <a:ext cx="5429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200"/>
              <a:buNone/>
              <a:defRPr b="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2" name="Google Shape;122;p19"/>
          <p:cNvSpPr txBox="1">
            <a:spLocks noGrp="1"/>
          </p:cNvSpPr>
          <p:nvPr>
            <p:ph type="subTitle" idx="1"/>
          </p:nvPr>
        </p:nvSpPr>
        <p:spPr>
          <a:xfrm>
            <a:off x="3486150" y="1908430"/>
            <a:ext cx="54297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title" idx="2" hasCustomPrompt="1"/>
          </p:nvPr>
        </p:nvSpPr>
        <p:spPr>
          <a:xfrm>
            <a:off x="3486150" y="2786453"/>
            <a:ext cx="5429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200"/>
              <a:buNone/>
              <a:defRPr b="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4" name="Google Shape;124;p19"/>
          <p:cNvSpPr txBox="1">
            <a:spLocks noGrp="1"/>
          </p:cNvSpPr>
          <p:nvPr>
            <p:ph type="subTitle" idx="3"/>
          </p:nvPr>
        </p:nvSpPr>
        <p:spPr>
          <a:xfrm>
            <a:off x="3486150" y="3288574"/>
            <a:ext cx="54297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title" idx="4"/>
          </p:nvPr>
        </p:nvSpPr>
        <p:spPr>
          <a:xfrm>
            <a:off x="1314450" y="228600"/>
            <a:ext cx="760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21"/>
          <p:cNvGrpSpPr/>
          <p:nvPr/>
        </p:nvGrpSpPr>
        <p:grpSpPr>
          <a:xfrm>
            <a:off x="0" y="0"/>
            <a:ext cx="12012466" cy="5156033"/>
            <a:chOff x="0" y="0"/>
            <a:chExt cx="12012466" cy="5156033"/>
          </a:xfrm>
        </p:grpSpPr>
        <p:pic>
          <p:nvPicPr>
            <p:cNvPr id="136" name="Google Shape;136;p21" title="05.jpg"/>
            <p:cNvPicPr preferRelativeResize="0"/>
            <p:nvPr/>
          </p:nvPicPr>
          <p:blipFill rotWithShape="1">
            <a:blip r:embed="rId2">
              <a:alphaModFix amt="80000"/>
            </a:blip>
            <a:srcRect b="24998"/>
            <a:stretch/>
          </p:blipFill>
          <p:spPr>
            <a:xfrm>
              <a:off x="0" y="12533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7" name="Google Shape;137;p21" title="03.1.jpg"/>
            <p:cNvPicPr preferRelativeResize="0"/>
            <p:nvPr/>
          </p:nvPicPr>
          <p:blipFill rotWithShape="1">
            <a:blip r:embed="rId3">
              <a:alphaModFix/>
            </a:blip>
            <a:srcRect t="31751" b="1206"/>
            <a:stretch/>
          </p:blipFill>
          <p:spPr>
            <a:xfrm rot="10800000">
              <a:off x="6768766" y="0"/>
              <a:ext cx="5243700" cy="5143500"/>
            </a:xfrm>
            <a:prstGeom prst="parallelogram">
              <a:avLst>
                <a:gd name="adj" fmla="val 41520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2" title="04.jpg"/>
          <p:cNvPicPr preferRelativeResize="0"/>
          <p:nvPr/>
        </p:nvPicPr>
        <p:blipFill rotWithShape="1">
          <a:blip r:embed="rId2">
            <a:alphaModFix amt="80000"/>
          </a:blip>
          <a:srcRect t="5777" b="11924"/>
          <a:stretch/>
        </p:blipFill>
        <p:spPr>
          <a:xfrm>
            <a:off x="0" y="0"/>
            <a:ext cx="9144000" cy="5143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●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○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 Tight"/>
              <a:buChar char="■"/>
              <a:defRPr sz="1200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5" r:id="rId11"/>
    <p:sldLayoutId id="2147483667" r:id="rId12"/>
    <p:sldLayoutId id="214748366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0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>
            <a:spLocks noGrp="1"/>
          </p:cNvSpPr>
          <p:nvPr>
            <p:ph type="ctrTitle"/>
          </p:nvPr>
        </p:nvSpPr>
        <p:spPr>
          <a:xfrm>
            <a:off x="239320" y="1812191"/>
            <a:ext cx="3307170" cy="132099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latin typeface="Qurova DEMO Med" pitchFamily="50" charset="0"/>
              </a:rPr>
              <a:t>Portify</a:t>
            </a:r>
            <a:endParaRPr sz="7200"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156" name="Google Shape;156;p27"/>
          <p:cNvSpPr txBox="1">
            <a:spLocks noGrp="1"/>
          </p:cNvSpPr>
          <p:nvPr>
            <p:ph type="subTitle" idx="1"/>
          </p:nvPr>
        </p:nvSpPr>
        <p:spPr>
          <a:xfrm>
            <a:off x="2659689" y="70884"/>
            <a:ext cx="3365427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>
                <a:latin typeface="Qurova DEMO Med" pitchFamily="50" charset="0"/>
              </a:rPr>
              <a:t>L.J. Institute of Computer Applications</a:t>
            </a:r>
            <a:endParaRPr dirty="0">
              <a:latin typeface="Qurova DEMO Med" pitchFamily="50" charset="0"/>
            </a:endParaRPr>
          </a:p>
        </p:txBody>
      </p:sp>
      <p:sp>
        <p:nvSpPr>
          <p:cNvPr id="157" name="Google Shape;157;p27"/>
          <p:cNvSpPr/>
          <p:nvPr/>
        </p:nvSpPr>
        <p:spPr>
          <a:xfrm>
            <a:off x="9144000" y="-486300"/>
            <a:ext cx="2927700" cy="6116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Inter Tight"/>
              <a:ea typeface="Inter Tight"/>
              <a:cs typeface="Inter Tight"/>
              <a:sym typeface="Inter Tight"/>
            </a:endParaRPr>
          </a:p>
        </p:txBody>
      </p:sp>
      <p:sp>
        <p:nvSpPr>
          <p:cNvPr id="3" name="Google Shape;155;p27">
            <a:extLst>
              <a:ext uri="{FF2B5EF4-FFF2-40B4-BE49-F238E27FC236}">
                <a16:creationId xmlns:a16="http://schemas.microsoft.com/office/drawing/2014/main" id="{D0571B66-19CB-0C0B-7DAC-A459583171E3}"/>
              </a:ext>
            </a:extLst>
          </p:cNvPr>
          <p:cNvSpPr txBox="1">
            <a:spLocks/>
          </p:cNvSpPr>
          <p:nvPr/>
        </p:nvSpPr>
        <p:spPr>
          <a:xfrm>
            <a:off x="899779" y="4088545"/>
            <a:ext cx="2481374" cy="46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3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Inter Tight Light"/>
              <a:buNone/>
              <a:defRPr sz="5200" b="0" i="0" u="none" strike="noStrike" cap="none">
                <a:solidFill>
                  <a:srgbClr val="191919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r>
              <a:rPr lang="en-IN" sz="1800" i="1" spc="300" dirty="0">
                <a:latin typeface="Glitten" pitchFamily="50" charset="0"/>
                <a:ea typeface="Lora"/>
                <a:cs typeface="Lora"/>
                <a:sym typeface="Lora"/>
              </a:rPr>
              <a:t>IMCAD_6_D_G30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DD58A3BA-E046-0E3E-C017-C7C0D752F00E}"/>
              </a:ext>
            </a:extLst>
          </p:cNvPr>
          <p:cNvSpPr txBox="1"/>
          <p:nvPr/>
        </p:nvSpPr>
        <p:spPr>
          <a:xfrm>
            <a:off x="439480" y="259080"/>
            <a:ext cx="4111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TABLE OF CONTENTS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48D4DF54-EDBF-08CF-1990-E9FECBE22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48698"/>
              </p:ext>
            </p:extLst>
          </p:nvPr>
        </p:nvGraphicFramePr>
        <p:xfrm>
          <a:off x="439480" y="857695"/>
          <a:ext cx="6096000" cy="4096157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205023">
                  <a:extLst>
                    <a:ext uri="{9D8B030D-6E8A-4147-A177-3AD203B41FA5}">
                      <a16:colId xmlns:a16="http://schemas.microsoft.com/office/drawing/2014/main" val="808329089"/>
                    </a:ext>
                  </a:extLst>
                </a:gridCol>
                <a:gridCol w="4890977">
                  <a:extLst>
                    <a:ext uri="{9D8B030D-6E8A-4147-A177-3AD203B41FA5}">
                      <a16:colId xmlns:a16="http://schemas.microsoft.com/office/drawing/2014/main" val="564992952"/>
                    </a:ext>
                  </a:extLst>
                </a:gridCol>
              </a:tblGrid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70261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Introduction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49792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Existing System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956378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Need for the New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0748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Objective of the New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738609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Problem Definition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9241710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Scope of the Project &amp; Core Components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237280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Project Profile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1136033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Assumptions and Constraints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0989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accent3"/>
                          </a:solidFill>
                        </a:rPr>
                        <a:t>Advantages and Limitations of the Proposed System</a:t>
                      </a:r>
                      <a:endParaRPr lang="en-IN" dirty="0">
                        <a:solidFill>
                          <a:schemeClr val="accent3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105530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Requirement Determination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5243641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Targeted Users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681574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(Use-Case)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83932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B250323-50F0-268F-6436-B005FEF61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4338630-1911-9473-C38B-09D688A421B8}"/>
              </a:ext>
            </a:extLst>
          </p:cNvPr>
          <p:cNvSpPr txBox="1"/>
          <p:nvPr/>
        </p:nvSpPr>
        <p:spPr>
          <a:xfrm>
            <a:off x="439480" y="259080"/>
            <a:ext cx="4111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TABLE OF CONTENTS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97563E5A-5120-B8EA-B5ED-FEBFE92660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249403"/>
              </p:ext>
            </p:extLst>
          </p:nvPr>
        </p:nvGraphicFramePr>
        <p:xfrm>
          <a:off x="439480" y="857695"/>
          <a:ext cx="6096000" cy="3781068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205023">
                  <a:extLst>
                    <a:ext uri="{9D8B030D-6E8A-4147-A177-3AD203B41FA5}">
                      <a16:colId xmlns:a16="http://schemas.microsoft.com/office/drawing/2014/main" val="808329089"/>
                    </a:ext>
                  </a:extLst>
                </a:gridCol>
                <a:gridCol w="4890977">
                  <a:extLst>
                    <a:ext uri="{9D8B030D-6E8A-4147-A177-3AD203B41FA5}">
                      <a16:colId xmlns:a16="http://schemas.microsoft.com/office/drawing/2014/main" val="564992952"/>
                    </a:ext>
                  </a:extLst>
                </a:gridCol>
              </a:tblGrid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chemeClr val="accent3"/>
                          </a:solidFill>
                        </a:rPr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70261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(Class)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497926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(Interaction)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956378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System Design (Activity)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07486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Data Dictionary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5738609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Development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7492409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Coding Standards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1949781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Screenshot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4530153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Agile Documentation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0609642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Proposed Enhancement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2276963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Conclusion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0696638"/>
                  </a:ext>
                </a:extLst>
              </a:tr>
              <a:tr h="315089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>
                          <a:solidFill>
                            <a:schemeClr val="accent3"/>
                          </a:solidFill>
                        </a:rPr>
                        <a:t>Bibliography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2396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66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9E0E85C-8CE9-E17C-8FD5-5D18F8B9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DAC756D1-D0E3-79E8-C2AE-BA6B4704B673}"/>
              </a:ext>
            </a:extLst>
          </p:cNvPr>
          <p:cNvSpPr txBox="1"/>
          <p:nvPr/>
        </p:nvSpPr>
        <p:spPr>
          <a:xfrm>
            <a:off x="439480" y="304800"/>
            <a:ext cx="2651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spc="300" dirty="0">
                <a:solidFill>
                  <a:schemeClr val="accent3"/>
                </a:solidFill>
                <a:latin typeface="Qurova DEMO Med" pitchFamily="50" charset="0"/>
                <a:cs typeface="Arial" panose="020B0604020202020204" pitchFamily="34" charset="0"/>
              </a:rPr>
              <a:t>Developed by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CC7FF9-58B0-B87B-0943-75BC5497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142075"/>
              </p:ext>
            </p:extLst>
          </p:nvPr>
        </p:nvGraphicFramePr>
        <p:xfrm>
          <a:off x="439480" y="1088390"/>
          <a:ext cx="6096000" cy="1192456"/>
        </p:xfrm>
        <a:graphic>
          <a:graphicData uri="http://schemas.openxmlformats.org/drawingml/2006/table">
            <a:tbl>
              <a:tblPr firstRow="1" bandRow="1">
                <a:tableStyleId>{9F95112B-359D-4307-BB43-7D9A8EF1CCF3}</a:tableStyleId>
              </a:tblPr>
              <a:tblGrid>
                <a:gridCol w="1098697">
                  <a:extLst>
                    <a:ext uri="{9D8B030D-6E8A-4147-A177-3AD203B41FA5}">
                      <a16:colId xmlns:a16="http://schemas.microsoft.com/office/drawing/2014/main" val="1208869930"/>
                    </a:ext>
                  </a:extLst>
                </a:gridCol>
                <a:gridCol w="1864242">
                  <a:extLst>
                    <a:ext uri="{9D8B030D-6E8A-4147-A177-3AD203B41FA5}">
                      <a16:colId xmlns:a16="http://schemas.microsoft.com/office/drawing/2014/main" val="4037268098"/>
                    </a:ext>
                  </a:extLst>
                </a:gridCol>
                <a:gridCol w="3133061">
                  <a:extLst>
                    <a:ext uri="{9D8B030D-6E8A-4147-A177-3AD203B41FA5}">
                      <a16:colId xmlns:a16="http://schemas.microsoft.com/office/drawing/2014/main" val="639200269"/>
                    </a:ext>
                  </a:extLst>
                </a:gridCol>
              </a:tblGrid>
              <a:tr h="59622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Enrollment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b="1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13187"/>
                  </a:ext>
                </a:extLst>
              </a:tr>
              <a:tr h="59622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23018501210273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dirty="0">
                          <a:solidFill>
                            <a:schemeClr val="accent3">
                              <a:lumMod val="95000"/>
                            </a:schemeClr>
                          </a:solidFill>
                        </a:rPr>
                        <a:t>Vaghela Purvarajsinh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3508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651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23F8857-7EDA-C519-13AF-5667D9A8FA4A}"/>
              </a:ext>
            </a:extLst>
          </p:cNvPr>
          <p:cNvSpPr txBox="1"/>
          <p:nvPr/>
        </p:nvSpPr>
        <p:spPr>
          <a:xfrm>
            <a:off x="2104818" y="2156251"/>
            <a:ext cx="49343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BFD1618D-4FF0-2543-4C1B-9103F87D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>
            <a:extLst>
              <a:ext uri="{FF2B5EF4-FFF2-40B4-BE49-F238E27FC236}">
                <a16:creationId xmlns:a16="http://schemas.microsoft.com/office/drawing/2014/main" id="{502123C3-5CAE-CA0E-76F1-315405D1A2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4469" y="290624"/>
            <a:ext cx="2025503" cy="567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latin typeface="Qurova DEMO Med" pitchFamily="50" charset="0"/>
              </a:rPr>
              <a:t>Introduction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A7391C-CC1F-82A3-5781-3AC9A9906022}"/>
              </a:ext>
            </a:extLst>
          </p:cNvPr>
          <p:cNvSpPr txBox="1"/>
          <p:nvPr/>
        </p:nvSpPr>
        <p:spPr>
          <a:xfrm>
            <a:off x="2772086" y="955200"/>
            <a:ext cx="615855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Portify – Automated Portfolio Generator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 is a web-based application developed using 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ASP.NET MVC </a:t>
            </a:r>
            <a:r>
              <a:rPr lang="en-IN" b="1" dirty="0">
                <a:solidFill>
                  <a:schemeClr val="accent3">
                    <a:lumMod val="95000"/>
                  </a:schemeClr>
                </a:solidFill>
              </a:rPr>
              <a:t>Framework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 and SQL Server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, which helps users create professional portfolio websites in minutes.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The system allows users to: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	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Choose a portfolio template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Enter personal, academic, and project details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Generate an “About Me” section using AI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Preview the portfolio live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Download the complete ready to host portfolio as HTML, CSS, and JavaScript files</a:t>
            </a:r>
          </a:p>
          <a:p>
            <a:pPr marL="285750" lvl="3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Give </a:t>
            </a: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Feedback To The Admin</a:t>
            </a: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US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The platform also includes an </a:t>
            </a:r>
            <a:r>
              <a:rPr lang="en-US" b="1" dirty="0">
                <a:solidFill>
                  <a:schemeClr val="accent3">
                    <a:lumMod val="95000"/>
                  </a:schemeClr>
                </a:solidFill>
              </a:rPr>
              <a:t>admin panel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 for managing templates, users, and system statistics and </a:t>
            </a:r>
            <a:r>
              <a:rPr lang="en-IN" dirty="0">
                <a:solidFill>
                  <a:schemeClr val="accent3">
                    <a:lumMod val="95000"/>
                  </a:schemeClr>
                </a:solidFill>
              </a:rPr>
              <a:t>Feedback</a:t>
            </a:r>
            <a:r>
              <a:rPr lang="en-US" dirty="0">
                <a:solidFill>
                  <a:schemeClr val="accent3">
                    <a:lumMod val="9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6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7C4259F5-F140-B292-7995-A7EE75953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/>
          <p:cNvSpPr txBox="1">
            <a:spLocks noGrp="1"/>
          </p:cNvSpPr>
          <p:nvPr>
            <p:ph type="title"/>
          </p:nvPr>
        </p:nvSpPr>
        <p:spPr>
          <a:xfrm>
            <a:off x="2483970" y="287965"/>
            <a:ext cx="261381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>
                <a:latin typeface="Qurova DEMO Med" pitchFamily="50" charset="0"/>
              </a:rPr>
              <a:t>Existing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09EAE4-B132-0AB6-5733-A5DD3710AF1A}"/>
              </a:ext>
            </a:extLst>
          </p:cNvPr>
          <p:cNvSpPr txBox="1"/>
          <p:nvPr/>
        </p:nvSpPr>
        <p:spPr>
          <a:xfrm>
            <a:off x="3345179" y="919082"/>
            <a:ext cx="463296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75000"/>
                  </a:schemeClr>
                </a:solidFill>
              </a:rPr>
              <a:t>Currently, users create portfolios using:</a:t>
            </a:r>
          </a:p>
          <a:p>
            <a:endParaRPr lang="en-US" sz="1800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Manual HTML/CSS coding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Static website builders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Design tools without export options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Paid platforms with limited customization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Problems with existing systems: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endParaRPr lang="en-IN" sz="1800" dirty="0">
              <a:solidFill>
                <a:schemeClr val="accent3">
                  <a:lumMod val="75000"/>
                </a:schemeClr>
              </a:solidFill>
            </a:endParaRP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Requires technical  knowledge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Time-consuming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No AI-assisted content generation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Limited control over final files</a:t>
            </a:r>
          </a:p>
          <a:p>
            <a:pPr marL="342900" indent="-34290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Expensive subscription-based tools</a:t>
            </a:r>
          </a:p>
        </p:txBody>
      </p:sp>
    </p:spTree>
    <p:extLst>
      <p:ext uri="{BB962C8B-B14F-4D97-AF65-F5344CB8AC3E}">
        <p14:creationId xmlns:p14="http://schemas.microsoft.com/office/powerpoint/2010/main" val="837680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5D86658-304E-3EE4-AF3E-B758CCFAD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F0017226-30BA-1EA4-2EC7-4CF3BB2155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83970" y="287965"/>
            <a:ext cx="409209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Need for the New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0680AD-C316-E6F0-ADD8-17A1077407A7}"/>
              </a:ext>
            </a:extLst>
          </p:cNvPr>
          <p:cNvSpPr txBox="1"/>
          <p:nvPr/>
        </p:nvSpPr>
        <p:spPr>
          <a:xfrm>
            <a:off x="3230879" y="1048622"/>
            <a:ext cx="4632961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Is easy to use for non-technical users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Saves time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Provides ready-to-host portfolio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Allows customization through templates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Uses AI to assist users in writing content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100% Free To Use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  <p:sp>
        <p:nvSpPr>
          <p:cNvPr id="2" name="Google Shape;275;p35">
            <a:extLst>
              <a:ext uri="{FF2B5EF4-FFF2-40B4-BE49-F238E27FC236}">
                <a16:creationId xmlns:a16="http://schemas.microsoft.com/office/drawing/2014/main" id="{08C8664C-CA1B-26C1-307A-00ECC9B9C860}"/>
              </a:ext>
            </a:extLst>
          </p:cNvPr>
          <p:cNvSpPr txBox="1">
            <a:spLocks/>
          </p:cNvSpPr>
          <p:nvPr/>
        </p:nvSpPr>
        <p:spPr>
          <a:xfrm>
            <a:off x="1493520" y="4064398"/>
            <a:ext cx="6484620" cy="431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Inter Tight Light"/>
              <a:buNone/>
              <a:defRPr sz="2500" b="0" i="0" u="none" strike="noStrike" cap="none">
                <a:solidFill>
                  <a:schemeClr val="dk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9pPr>
          </a:lstStyle>
          <a:p>
            <a:r>
              <a:rPr lang="en-US" sz="2000" b="1" dirty="0">
                <a:latin typeface="Qurova DEMO Med" pitchFamily="50" charset="0"/>
              </a:rPr>
              <a:t>Portify</a:t>
            </a:r>
            <a:r>
              <a:rPr lang="en-US" sz="2000" dirty="0">
                <a:latin typeface="Qurova DEMO Med" pitchFamily="50" charset="0"/>
              </a:rPr>
              <a:t> solves all these problems in a single platform.</a:t>
            </a:r>
          </a:p>
        </p:txBody>
      </p:sp>
    </p:spTree>
    <p:extLst>
      <p:ext uri="{BB962C8B-B14F-4D97-AF65-F5344CB8AC3E}">
        <p14:creationId xmlns:p14="http://schemas.microsoft.com/office/powerpoint/2010/main" val="2378806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85885585-C3D0-F6A9-50D8-E7469066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DD248241-8B6A-04E6-B7F1-5DD6F56BC6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6349" y="463225"/>
            <a:ext cx="463296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Objective of the New System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42553F-89CF-35AD-CBA5-4CB79727855F}"/>
              </a:ext>
            </a:extLst>
          </p:cNvPr>
          <p:cNvSpPr txBox="1"/>
          <p:nvPr/>
        </p:nvSpPr>
        <p:spPr>
          <a:xfrm>
            <a:off x="2956559" y="1304736"/>
            <a:ext cx="5676901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automate portfolio website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reduce dependency on coding skills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To provide professional-looking portfolios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To integrate AI for content creation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allow users to download complete website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To give admin full control over templates and users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237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65011625-A7F0-B732-6798-C3F81B16E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11A70F6C-AEE3-41F7-EDD5-D6B4D39F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6349" y="463225"/>
            <a:ext cx="463296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>
                <a:latin typeface="Qurova DEMO Med" pitchFamily="50" charset="0"/>
              </a:rPr>
              <a:t>Problem Definition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FA178E-714A-7B37-33D2-E7B989C3E087}"/>
              </a:ext>
            </a:extLst>
          </p:cNvPr>
          <p:cNvSpPr txBox="1"/>
          <p:nvPr/>
        </p:nvSpPr>
        <p:spPr>
          <a:xfrm>
            <a:off x="2880359" y="1143373"/>
            <a:ext cx="5676901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Design and develop a system that enables users to create professional portfolio websites easily, quickly, and efficiently without technical expertise.</a:t>
            </a:r>
            <a:endParaRPr lang="en-IN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0B7C4-4610-4C6F-5881-15D1E62B8E99}"/>
              </a:ext>
            </a:extLst>
          </p:cNvPr>
          <p:cNvSpPr txBox="1"/>
          <p:nvPr/>
        </p:nvSpPr>
        <p:spPr>
          <a:xfrm>
            <a:off x="2880358" y="2648950"/>
            <a:ext cx="5676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Many students and professionals struggle to create professional portfolios due to:</a:t>
            </a:r>
          </a:p>
          <a:p>
            <a:pPr>
              <a:buClr>
                <a:schemeClr val="accent3">
                  <a:lumMod val="95000"/>
                </a:schemeClr>
              </a:buClr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Lack of web development skills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 constraints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Poor design knowledge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High cost of existing tools</a:t>
            </a: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2669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FE4A7BF6-72AE-743C-1716-153E2CF6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>
            <a:extLst>
              <a:ext uri="{FF2B5EF4-FFF2-40B4-BE49-F238E27FC236}">
                <a16:creationId xmlns:a16="http://schemas.microsoft.com/office/drawing/2014/main" id="{6C2C3933-C2DD-6177-2787-A576936421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91589" y="196525"/>
            <a:ext cx="6431431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Qurova DEMO Med" pitchFamily="50" charset="0"/>
              </a:rPr>
              <a:t>Scope of the Project &amp; Core Components</a:t>
            </a:r>
            <a:endParaRPr i="1" dirty="0">
              <a:latin typeface="Qurova DEMO Med" pitchFamily="50" charset="0"/>
              <a:ea typeface="Lora"/>
              <a:cs typeface="Lora"/>
              <a:sym typeface="Lora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F3BACB-580C-6230-87CE-FDDCCD2AE420}"/>
              </a:ext>
            </a:extLst>
          </p:cNvPr>
          <p:cNvGrpSpPr/>
          <p:nvPr/>
        </p:nvGrpSpPr>
        <p:grpSpPr>
          <a:xfrm>
            <a:off x="2720340" y="818725"/>
            <a:ext cx="5196840" cy="3967103"/>
            <a:chOff x="2720340" y="818725"/>
            <a:chExt cx="5196840" cy="396710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D650F81-44D1-68A9-0D74-8E968553D455}"/>
                </a:ext>
              </a:extLst>
            </p:cNvPr>
            <p:cNvSpPr txBox="1"/>
            <p:nvPr/>
          </p:nvSpPr>
          <p:spPr>
            <a:xfrm>
              <a:off x="2720340" y="818725"/>
              <a:ext cx="519684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600" dirty="0">
                  <a:solidFill>
                    <a:schemeClr val="accent3">
                      <a:lumMod val="75000"/>
                    </a:schemeClr>
                  </a:solidFill>
                  <a:latin typeface="Qurova DEMO Med" pitchFamily="50" charset="0"/>
                </a:rPr>
                <a:t>Scope:</a:t>
              </a:r>
            </a:p>
            <a:p>
              <a:endParaRPr lang="en-IN" sz="16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endParaRP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Portfolio  creation  using  predefined  templates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AI-based  “About Me” generation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Live  portfolio  preview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File  generation  and  ZIP  download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  <a:latin typeface="+mj-lt"/>
                </a:rPr>
                <a:t>Admin  management  panel</a:t>
              </a:r>
            </a:p>
            <a:p>
              <a:endParaRPr lang="en-IN" sz="1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4392F1B-B07E-7F5C-6AED-73238D067076}"/>
                </a:ext>
              </a:extLst>
            </p:cNvPr>
            <p:cNvSpPr txBox="1"/>
            <p:nvPr/>
          </p:nvSpPr>
          <p:spPr>
            <a:xfrm>
              <a:off x="2720340" y="2723725"/>
              <a:ext cx="519684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600" dirty="0">
                  <a:solidFill>
                    <a:schemeClr val="accent3">
                      <a:lumMod val="75000"/>
                    </a:schemeClr>
                  </a:solidFill>
                  <a:latin typeface="Qurova DEMO Med" pitchFamily="50" charset="0"/>
                </a:rPr>
                <a:t>Core Components:</a:t>
              </a:r>
            </a:p>
            <a:p>
              <a:endParaRPr lang="en-IN" sz="16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endParaRP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User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Template Management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Portfolio Builder Module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AI Content Generator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File Generator &amp; ZIP Export</a:t>
              </a:r>
            </a:p>
            <a:p>
              <a:pPr marL="285750" indent="-285750">
                <a:buClr>
                  <a:schemeClr val="accent3">
                    <a:lumMod val="95000"/>
                  </a:schemeClr>
                </a:buClr>
                <a:buFont typeface="Wingdings" panose="05000000000000000000" pitchFamily="2" charset="2"/>
                <a:buChar char="v"/>
              </a:pPr>
              <a:r>
                <a:rPr lang="en-IN" sz="1600" dirty="0">
                  <a:solidFill>
                    <a:schemeClr val="accent3">
                      <a:lumMod val="95000"/>
                    </a:schemeClr>
                  </a:solidFill>
                </a:rPr>
                <a:t>Admin Dashboard &amp; Analytics</a:t>
              </a:r>
              <a:endParaRPr lang="en-IN" sz="1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7455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693971A9-129C-03D3-8E94-3FBBBE9EF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9F05FE4-A644-F6BE-EBF6-C8179DBDCE36}"/>
              </a:ext>
            </a:extLst>
          </p:cNvPr>
          <p:cNvSpPr txBox="1"/>
          <p:nvPr/>
        </p:nvSpPr>
        <p:spPr>
          <a:xfrm>
            <a:off x="439480" y="304800"/>
            <a:ext cx="26510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Project Profile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D1CFF-29FC-40E2-7C2A-2B39F5CD189E}"/>
              </a:ext>
            </a:extLst>
          </p:cNvPr>
          <p:cNvSpPr txBox="1"/>
          <p:nvPr/>
        </p:nvSpPr>
        <p:spPr>
          <a:xfrm>
            <a:off x="762000" y="889652"/>
            <a:ext cx="3377848" cy="11144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Project Name:</a:t>
            </a: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Portify</a:t>
            </a:r>
          </a:p>
          <a:p>
            <a:pPr>
              <a:lnSpc>
                <a:spcPct val="200000"/>
              </a:lnSpc>
            </a:pP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Project Type:</a:t>
            </a:r>
            <a:r>
              <a:rPr lang="en-IN" sz="18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Web Application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3F7F84-6036-CD7B-E80C-7AC353632890}"/>
              </a:ext>
            </a:extLst>
          </p:cNvPr>
          <p:cNvSpPr txBox="1"/>
          <p:nvPr/>
        </p:nvSpPr>
        <p:spPr>
          <a:xfrm>
            <a:off x="762000" y="2263973"/>
            <a:ext cx="5384807" cy="22570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Technology Stack:</a:t>
            </a:r>
          </a:p>
          <a:p>
            <a:endParaRPr lang="en-IN" sz="1800" b="1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Frontend: HTML, CSS, JavaScript, Razor Views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Backend: ASP.NET (C#)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Database: SQL Server (SSMS)</a:t>
            </a:r>
          </a:p>
          <a:p>
            <a:pPr marL="285750" lvl="1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 Integration: Gemini API</a:t>
            </a:r>
          </a:p>
        </p:txBody>
      </p:sp>
    </p:spTree>
    <p:extLst>
      <p:ext uri="{BB962C8B-B14F-4D97-AF65-F5344CB8AC3E}">
        <p14:creationId xmlns:p14="http://schemas.microsoft.com/office/powerpoint/2010/main" val="3765955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27C8FAB-C4B2-2501-B37B-F789F9508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60ADA87-6029-AB28-B47D-3EB884595751}"/>
              </a:ext>
            </a:extLst>
          </p:cNvPr>
          <p:cNvSpPr txBox="1"/>
          <p:nvPr/>
        </p:nvSpPr>
        <p:spPr>
          <a:xfrm>
            <a:off x="439480" y="304800"/>
            <a:ext cx="6136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Assumptions and Constraints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CC8379-9DD1-898E-22C4-A9FA7666F664}"/>
              </a:ext>
            </a:extLst>
          </p:cNvPr>
          <p:cNvSpPr txBox="1"/>
          <p:nvPr/>
        </p:nvSpPr>
        <p:spPr>
          <a:xfrm>
            <a:off x="815366" y="1010900"/>
            <a:ext cx="428241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Assumptions</a:t>
            </a:r>
            <a:r>
              <a:rPr lang="en-IN" sz="1800" b="1" dirty="0">
                <a:solidFill>
                  <a:schemeClr val="accent3">
                    <a:lumMod val="75000"/>
                  </a:schemeClr>
                </a:solidFill>
              </a:rPr>
              <a:t>:</a:t>
            </a:r>
          </a:p>
          <a:p>
            <a:endParaRPr lang="en-IN" sz="1800" b="1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Users have basic internet access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Admin uploads valid templates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AI API is available and responsive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US" sz="1800" dirty="0">
              <a:solidFill>
                <a:schemeClr val="accent3">
                  <a:lumMod val="95000"/>
                </a:schemeClr>
              </a:solidFill>
            </a:endParaRPr>
          </a:p>
          <a:p>
            <a:pPr lvl="1">
              <a:buClr>
                <a:schemeClr val="accent3">
                  <a:lumMod val="95000"/>
                </a:schemeClr>
              </a:buClr>
            </a:pPr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Constraints:</a:t>
            </a:r>
          </a:p>
          <a:p>
            <a:pPr lvl="1">
              <a:buClr>
                <a:schemeClr val="accent3">
                  <a:lumMod val="95000"/>
                </a:schemeClr>
              </a:buClr>
            </a:pPr>
            <a:endParaRPr lang="en-IN" sz="1800" dirty="0">
              <a:solidFill>
                <a:schemeClr val="accent3">
                  <a:lumMod val="75000"/>
                </a:schemeClr>
              </a:solidFill>
              <a:latin typeface="Qurova DEMO Med" pitchFamily="50" charset="0"/>
            </a:endParaRP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Internet dependency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API usage limits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Limited customization beyond templates</a:t>
            </a:r>
          </a:p>
          <a:p>
            <a:pPr marL="285750" lvl="1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Initial templates are predefined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911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37E08B32-93E1-D48A-B8D2-53AF1AA22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F02E817-11A1-E78C-8642-FD9664FF9476}"/>
              </a:ext>
            </a:extLst>
          </p:cNvPr>
          <p:cNvSpPr txBox="1"/>
          <p:nvPr/>
        </p:nvSpPr>
        <p:spPr>
          <a:xfrm>
            <a:off x="149920" y="2472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Advantages and Limitations of the Proposed System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5F9FA-393F-E6D8-ED77-9CA81E72444F}"/>
              </a:ext>
            </a:extLst>
          </p:cNvPr>
          <p:cNvSpPr txBox="1"/>
          <p:nvPr/>
        </p:nvSpPr>
        <p:spPr>
          <a:xfrm>
            <a:off x="210880" y="1219200"/>
            <a:ext cx="3525324" cy="3100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Advantages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Easy to use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No coding required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AI-assisted content creation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Ready-to-deploy portfolio files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Time-efficient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Scalable system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58BD4-524D-77E5-2D8D-30626FDF005D}"/>
              </a:ext>
            </a:extLst>
          </p:cNvPr>
          <p:cNvSpPr txBox="1"/>
          <p:nvPr/>
        </p:nvSpPr>
        <p:spPr>
          <a:xfrm>
            <a:off x="3998020" y="1219200"/>
            <a:ext cx="3525324" cy="3100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Limitations</a:t>
            </a:r>
            <a:r>
              <a:rPr lang="en-IN" sz="1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Dependent on template structure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Requires internet  connectivity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AI-generated content may  need manual editing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23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72A811A5-AD99-107C-7248-CE15E0A3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6DB2AA5-2183-8C8D-FCD9-0EB101D80A89}"/>
              </a:ext>
            </a:extLst>
          </p:cNvPr>
          <p:cNvSpPr txBox="1"/>
          <p:nvPr/>
        </p:nvSpPr>
        <p:spPr>
          <a:xfrm>
            <a:off x="307567" y="1925419"/>
            <a:ext cx="8528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Requirement Determination &amp; Analysis</a:t>
            </a:r>
            <a:endParaRPr lang="en-IN" sz="36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848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F6933BE8-20F9-F820-FFBD-5CEFE35FB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3F1823B-56EF-98D4-BD05-62491846B0CA}"/>
              </a:ext>
            </a:extLst>
          </p:cNvPr>
          <p:cNvSpPr txBox="1"/>
          <p:nvPr/>
        </p:nvSpPr>
        <p:spPr>
          <a:xfrm>
            <a:off x="149920" y="247293"/>
            <a:ext cx="808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Requirement Determination &amp; Analysis</a:t>
            </a:r>
            <a:endParaRPr lang="en-IN" sz="2500" spc="3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8DDC67-D973-6D1D-F283-971B72B39C09}"/>
              </a:ext>
            </a:extLst>
          </p:cNvPr>
          <p:cNvSpPr txBox="1"/>
          <p:nvPr/>
        </p:nvSpPr>
        <p:spPr>
          <a:xfrm>
            <a:off x="210880" y="1219200"/>
            <a:ext cx="3525324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Functional Requirements: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User registration and login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Template selection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Dynamic form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AI content generation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Live preview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Portfolio download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Admin template management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F46767-38CE-7A18-5667-DB2313638928}"/>
              </a:ext>
            </a:extLst>
          </p:cNvPr>
          <p:cNvSpPr txBox="1"/>
          <p:nvPr/>
        </p:nvSpPr>
        <p:spPr>
          <a:xfrm>
            <a:off x="3998020" y="1219200"/>
            <a:ext cx="3525324" cy="2689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3">
                    <a:lumMod val="75000"/>
                  </a:schemeClr>
                </a:solidFill>
                <a:latin typeface="Qurova DEMO Med" pitchFamily="50" charset="0"/>
              </a:rPr>
              <a:t>Non-Functional Requirements:</a:t>
            </a:r>
          </a:p>
          <a:p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Security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Performance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Scalability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Usability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Maintainability</a:t>
            </a:r>
            <a:endParaRPr lang="en-IN" sz="18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69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DDC33756-12F9-C29E-2B7A-97CA534B3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73F7E4C-406F-C442-9175-01A59B894A6F}"/>
              </a:ext>
            </a:extLst>
          </p:cNvPr>
          <p:cNvSpPr txBox="1"/>
          <p:nvPr/>
        </p:nvSpPr>
        <p:spPr>
          <a:xfrm>
            <a:off x="210880" y="361593"/>
            <a:ext cx="808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Targeted Users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C86346-07E6-850C-B050-CEAEEA102E15}"/>
              </a:ext>
            </a:extLst>
          </p:cNvPr>
          <p:cNvSpPr txBox="1"/>
          <p:nvPr/>
        </p:nvSpPr>
        <p:spPr>
          <a:xfrm>
            <a:off x="210880" y="1219200"/>
            <a:ext cx="6334700" cy="3330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College students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Freshers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Job seekers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Freelancers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Professionals</a:t>
            </a:r>
          </a:p>
          <a:p>
            <a:pPr marL="285750" indent="-285750">
              <a:lnSpc>
                <a:spcPct val="20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IN" sz="1800" dirty="0">
                <a:solidFill>
                  <a:schemeClr val="accent3">
                    <a:lumMod val="95000"/>
                  </a:schemeClr>
                </a:solidFill>
              </a:rPr>
              <a:t>People Who Are Not Familiar With Coding</a:t>
            </a:r>
          </a:p>
        </p:txBody>
      </p:sp>
    </p:spTree>
    <p:extLst>
      <p:ext uri="{BB962C8B-B14F-4D97-AF65-F5344CB8AC3E}">
        <p14:creationId xmlns:p14="http://schemas.microsoft.com/office/powerpoint/2010/main" val="3515504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81AF5E27-58D9-3C43-E264-E56661CEF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7616261-BD67-E2C2-48F4-3F30ACEC80B5}"/>
              </a:ext>
            </a:extLst>
          </p:cNvPr>
          <p:cNvSpPr txBox="1"/>
          <p:nvPr/>
        </p:nvSpPr>
        <p:spPr>
          <a:xfrm>
            <a:off x="1908450" y="1965751"/>
            <a:ext cx="53270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664588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E835AC0F-D310-1ECE-E152-63E54B735E0B}"/>
              </a:ext>
            </a:extLst>
          </p:cNvPr>
          <p:cNvSpPr txBox="1"/>
          <p:nvPr/>
        </p:nvSpPr>
        <p:spPr>
          <a:xfrm>
            <a:off x="53340" y="91440"/>
            <a:ext cx="2794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12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Use Case Diagram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B3B1136-1DF7-2A60-C581-1B33E48C5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71500"/>
            <a:ext cx="82448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5D1F369-C670-472E-699C-816764D30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B15C611D-7D7C-AF16-4818-B9B4C5052176}"/>
              </a:ext>
            </a:extLst>
          </p:cNvPr>
          <p:cNvSpPr txBox="1"/>
          <p:nvPr/>
        </p:nvSpPr>
        <p:spPr>
          <a:xfrm>
            <a:off x="53340" y="91440"/>
            <a:ext cx="2307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13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Class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5183-7561-55BE-2277-66AEFC52D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86" y="591266"/>
            <a:ext cx="8257101" cy="446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713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B0F2CF2-7D3C-47E4-D9BA-7FF02D669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53374C68-B569-41EF-8265-7D59E9DB10B0}"/>
              </a:ext>
            </a:extLst>
          </p:cNvPr>
          <p:cNvSpPr txBox="1"/>
          <p:nvPr/>
        </p:nvSpPr>
        <p:spPr>
          <a:xfrm>
            <a:off x="53340" y="91440"/>
            <a:ext cx="7555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14.1.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(user Login/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Register, Admin Login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C0D9DE-C1CE-E692-991C-95BD5CFFD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510" y="543140"/>
            <a:ext cx="6897737" cy="450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2908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857B7E-FB5A-1663-B7A6-0BB19B1B7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6A3B263-8792-8A1F-EC61-3C21E0B4E0B8}"/>
              </a:ext>
            </a:extLst>
          </p:cNvPr>
          <p:cNvSpPr txBox="1"/>
          <p:nvPr/>
        </p:nvSpPr>
        <p:spPr>
          <a:xfrm>
            <a:off x="53340" y="91440"/>
            <a:ext cx="41633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14.2.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User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3854A0-79CE-0E9B-6D01-1DB41E6EB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94" y="491550"/>
            <a:ext cx="8876211" cy="4560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90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ABFEFF99-A538-60D7-52D6-7D5714D8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51E2E9E0-F2D1-8B90-FD6A-35B7C41DDA35}"/>
              </a:ext>
            </a:extLst>
          </p:cNvPr>
          <p:cNvSpPr txBox="1"/>
          <p:nvPr/>
        </p:nvSpPr>
        <p:spPr>
          <a:xfrm>
            <a:off x="53340" y="91440"/>
            <a:ext cx="4378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14.4. 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Intersection</a:t>
            </a:r>
            <a:r>
              <a:rPr lang="en-US" b="1" dirty="0"/>
              <a:t>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 Diagram (</a:t>
            </a:r>
            <a:r>
              <a:rPr lang="en-US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Admin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6AA891-174C-93F4-AE33-5CD021A8A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55" y="491550"/>
            <a:ext cx="8717738" cy="449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055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E3264B8-1933-3BB0-156D-7802F276F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6265395F-AC40-8434-079C-2FF2AE6711BF}"/>
              </a:ext>
            </a:extLst>
          </p:cNvPr>
          <p:cNvSpPr txBox="1"/>
          <p:nvPr/>
        </p:nvSpPr>
        <p:spPr>
          <a:xfrm>
            <a:off x="53340" y="91440"/>
            <a:ext cx="2823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15.1.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Activity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10B1E9-2D7D-82FD-43F1-5631A0988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347" y="491547"/>
            <a:ext cx="3675542" cy="45605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34C9D6-879D-E568-956B-8D3F7DEB3E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278" y="491547"/>
            <a:ext cx="3999700" cy="45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294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EE41A1-64DC-E24E-FA1F-3BFD44415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7694B2E-D63B-5844-51F3-F4D927422A26}"/>
              </a:ext>
            </a:extLst>
          </p:cNvPr>
          <p:cNvSpPr txBox="1"/>
          <p:nvPr/>
        </p:nvSpPr>
        <p:spPr>
          <a:xfrm>
            <a:off x="53340" y="91440"/>
            <a:ext cx="2823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15.2.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Activity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B1DC59-6F7B-853D-1215-E98BE923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906" y="491550"/>
            <a:ext cx="4534187" cy="447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326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B54D0B37-B0AA-7EEB-43C4-E7526BAF7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78525EDE-A610-F9D2-0D34-7D0AA93E1007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EB0CF6-C2CD-A2C5-B0CF-DBEED8B21A2F}"/>
              </a:ext>
            </a:extLst>
          </p:cNvPr>
          <p:cNvSpPr txBox="1"/>
          <p:nvPr/>
        </p:nvSpPr>
        <p:spPr>
          <a:xfrm>
            <a:off x="53340" y="543140"/>
            <a:ext cx="65501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IN" sz="1600" b="0" dirty="0"/>
              <a:t>Users</a:t>
            </a:r>
          </a:p>
          <a:p>
            <a:r>
              <a:rPr lang="en-IN" sz="1600" dirty="0"/>
              <a:t>Purpose: </a:t>
            </a:r>
            <a:r>
              <a:rPr lang="en-IN" sz="1600" b="0" dirty="0"/>
              <a:t>Stores information about users (Admins and regular Users).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E82061-D7F4-01D8-9607-0B13C2B5C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147195"/>
              </p:ext>
            </p:extLst>
          </p:nvPr>
        </p:nvGraphicFramePr>
        <p:xfrm>
          <a:off x="226879" y="1400033"/>
          <a:ext cx="8655865" cy="3416296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203160">
                  <a:extLst>
                    <a:ext uri="{9D8B030D-6E8A-4147-A177-3AD203B41FA5}">
                      <a16:colId xmlns:a16="http://schemas.microsoft.com/office/drawing/2014/main" val="448220465"/>
                    </a:ext>
                  </a:extLst>
                </a:gridCol>
                <a:gridCol w="1540042">
                  <a:extLst>
                    <a:ext uri="{9D8B030D-6E8A-4147-A177-3AD203B41FA5}">
                      <a16:colId xmlns:a16="http://schemas.microsoft.com/office/drawing/2014/main" val="2305402158"/>
                    </a:ext>
                  </a:extLst>
                </a:gridCol>
                <a:gridCol w="2626322">
                  <a:extLst>
                    <a:ext uri="{9D8B030D-6E8A-4147-A177-3AD203B41FA5}">
                      <a16:colId xmlns:a16="http://schemas.microsoft.com/office/drawing/2014/main" val="3780971392"/>
                    </a:ext>
                  </a:extLst>
                </a:gridCol>
                <a:gridCol w="3286341">
                  <a:extLst>
                    <a:ext uri="{9D8B030D-6E8A-4147-A177-3AD203B41FA5}">
                      <a16:colId xmlns:a16="http://schemas.microsoft.com/office/drawing/2014/main" val="1879646297"/>
                    </a:ext>
                  </a:extLst>
                </a:gridCol>
              </a:tblGrid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4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849848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each user.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239724180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FullName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user's full name.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229005925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Email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NULL, UNIQUE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User's email address used for login.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297838687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PasswordHash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Hashed version of the user's password.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553510573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Role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NULL, CHECK (Admin/User)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Defines user access level (Admin or User).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828397794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IsBlocked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BIT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Indicates if the user is blocked from the system.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2350849667"/>
                  </a:ext>
                </a:extLst>
              </a:tr>
              <a:tr h="4270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date and time when the user registered.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8822" marR="38822" marT="0" marB="0" anchor="ctr"/>
                </a:tc>
                <a:extLst>
                  <a:ext uri="{0D108BD9-81ED-4DB2-BD59-A6C34878D82A}">
                    <a16:rowId xmlns:a16="http://schemas.microsoft.com/office/drawing/2014/main" val="19676634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46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7B25C264-8CB9-8392-2809-A53366CA0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0E460BB-EAA1-822A-358B-2D782DAB657A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CE29D7-E3C3-E91D-9961-20AFB79790FE}"/>
              </a:ext>
            </a:extLst>
          </p:cNvPr>
          <p:cNvSpPr txBox="1"/>
          <p:nvPr/>
        </p:nvSpPr>
        <p:spPr>
          <a:xfrm>
            <a:off x="53340" y="460586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IN" sz="1600" b="0" dirty="0"/>
              <a:t>Templates</a:t>
            </a:r>
          </a:p>
          <a:p>
            <a:r>
              <a:rPr lang="en-IN" sz="1600" dirty="0"/>
              <a:t>Purpose: </a:t>
            </a:r>
            <a:r>
              <a:rPr lang="en-US" sz="1600" kern="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Mangal" panose="02040503050203030202" pitchFamily="18" charset="0"/>
              </a:rPr>
              <a:t> Stores metadata for available portfolio templates</a:t>
            </a:r>
            <a:r>
              <a:rPr lang="en-IN" sz="1600" b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D279E6D-7D24-265C-E908-033EB09A22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951648"/>
              </p:ext>
            </p:extLst>
          </p:nvPr>
        </p:nvGraphicFramePr>
        <p:xfrm>
          <a:off x="302508" y="1154209"/>
          <a:ext cx="8538984" cy="3931917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333786">
                  <a:extLst>
                    <a:ext uri="{9D8B030D-6E8A-4147-A177-3AD203B41FA5}">
                      <a16:colId xmlns:a16="http://schemas.microsoft.com/office/drawing/2014/main" val="1993347380"/>
                    </a:ext>
                  </a:extLst>
                </a:gridCol>
                <a:gridCol w="1485040">
                  <a:extLst>
                    <a:ext uri="{9D8B030D-6E8A-4147-A177-3AD203B41FA5}">
                      <a16:colId xmlns:a16="http://schemas.microsoft.com/office/drawing/2014/main" val="3329647211"/>
                    </a:ext>
                  </a:extLst>
                </a:gridCol>
                <a:gridCol w="2028181">
                  <a:extLst>
                    <a:ext uri="{9D8B030D-6E8A-4147-A177-3AD203B41FA5}">
                      <a16:colId xmlns:a16="http://schemas.microsoft.com/office/drawing/2014/main" val="857815785"/>
                    </a:ext>
                  </a:extLst>
                </a:gridCol>
                <a:gridCol w="3691977">
                  <a:extLst>
                    <a:ext uri="{9D8B030D-6E8A-4147-A177-3AD203B41FA5}">
                      <a16:colId xmlns:a16="http://schemas.microsoft.com/office/drawing/2014/main" val="2394883968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05595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template.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27309869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TemplateName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template design.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1837446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Brief description of the template's style.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19917705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ThumbnailPath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preview image for the template.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94138584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HtmlPath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base HTML file for generation.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07277389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CssPath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associated CSS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428222258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JsPath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associated JavaScript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59649353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ConfigPath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NOT 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template configuration file.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43286783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IsActive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BIT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DEFAULT(1)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Flag to show/hide the template for selection.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226778312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template was added.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25410" marR="25410" marT="0" marB="0" anchor="ctr"/>
                </a:tc>
                <a:extLst>
                  <a:ext uri="{0D108BD9-81ED-4DB2-BD59-A6C34878D82A}">
                    <a16:rowId xmlns:a16="http://schemas.microsoft.com/office/drawing/2014/main" val="352630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649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CF87A63F-6CDF-21B0-0E50-E9EFA3581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1AD50A3F-1938-B777-5F57-CD7758515ED9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3B1878-AECA-FAA4-A810-BAB19126213B}"/>
              </a:ext>
            </a:extLst>
          </p:cNvPr>
          <p:cNvSpPr txBox="1"/>
          <p:nvPr/>
        </p:nvSpPr>
        <p:spPr>
          <a:xfrm>
            <a:off x="53340" y="543140"/>
            <a:ext cx="58673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Portfolios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the core portfolio instances created by users.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F2562E8-FE38-3890-0682-88FB8077B3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890418"/>
              </p:ext>
            </p:extLst>
          </p:nvPr>
        </p:nvGraphicFramePr>
        <p:xfrm>
          <a:off x="233757" y="1429719"/>
          <a:ext cx="8277726" cy="3416301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82532">
                  <a:extLst>
                    <a:ext uri="{9D8B030D-6E8A-4147-A177-3AD203B41FA5}">
                      <a16:colId xmlns:a16="http://schemas.microsoft.com/office/drawing/2014/main" val="4067638814"/>
                    </a:ext>
                  </a:extLst>
                </a:gridCol>
                <a:gridCol w="1519416">
                  <a:extLst>
                    <a:ext uri="{9D8B030D-6E8A-4147-A177-3AD203B41FA5}">
                      <a16:colId xmlns:a16="http://schemas.microsoft.com/office/drawing/2014/main" val="1423085833"/>
                    </a:ext>
                  </a:extLst>
                </a:gridCol>
                <a:gridCol w="2297618">
                  <a:extLst>
                    <a:ext uri="{9D8B030D-6E8A-4147-A177-3AD203B41FA5}">
                      <a16:colId xmlns:a16="http://schemas.microsoft.com/office/drawing/2014/main" val="1649448276"/>
                    </a:ext>
                  </a:extLst>
                </a:gridCol>
                <a:gridCol w="3278160">
                  <a:extLst>
                    <a:ext uri="{9D8B030D-6E8A-4147-A177-3AD203B41FA5}">
                      <a16:colId xmlns:a16="http://schemas.microsoft.com/office/drawing/2014/main" val="1318592417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153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22224987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(Users.Id)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 of the user who owns the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21189908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TemplateId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(Templates.Id)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 of the selected template.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158517270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Title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User-defined title for the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2798840829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AboutMe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"About Me" section content.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575751436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when the portfolio was generated.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8192" marR="48192" marT="0" marB="0" anchor="ctr"/>
                </a:tc>
                <a:extLst>
                  <a:ext uri="{0D108BD9-81ED-4DB2-BD59-A6C34878D82A}">
                    <a16:rowId xmlns:a16="http://schemas.microsoft.com/office/drawing/2014/main" val="3306440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2093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6F2BE848-746B-FDD1-B00A-F7EA80F70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6364ABDC-B146-3897-2005-CB71899C09EF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0AEE91-10EC-07B2-A909-212639FDB05F}"/>
              </a:ext>
            </a:extLst>
          </p:cNvPr>
          <p:cNvSpPr txBox="1"/>
          <p:nvPr/>
        </p:nvSpPr>
        <p:spPr>
          <a:xfrm>
            <a:off x="53340" y="440013"/>
            <a:ext cx="61831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PortfolioPersonalInfo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personal details specific to a generated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08787E-C35D-949C-8E13-C93EEC86D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532488"/>
              </p:ext>
            </p:extLst>
          </p:nvPr>
        </p:nvGraphicFramePr>
        <p:xfrm>
          <a:off x="422824" y="1226989"/>
          <a:ext cx="8298352" cy="382507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72791">
                  <a:extLst>
                    <a:ext uri="{9D8B030D-6E8A-4147-A177-3AD203B41FA5}">
                      <a16:colId xmlns:a16="http://schemas.microsoft.com/office/drawing/2014/main" val="2726440409"/>
                    </a:ext>
                  </a:extLst>
                </a:gridCol>
                <a:gridCol w="1759062">
                  <a:extLst>
                    <a:ext uri="{9D8B030D-6E8A-4147-A177-3AD203B41FA5}">
                      <a16:colId xmlns:a16="http://schemas.microsoft.com/office/drawing/2014/main" val="707590901"/>
                    </a:ext>
                  </a:extLst>
                </a:gridCol>
                <a:gridCol w="2768746">
                  <a:extLst>
                    <a:ext uri="{9D8B030D-6E8A-4147-A177-3AD203B41FA5}">
                      <a16:colId xmlns:a16="http://schemas.microsoft.com/office/drawing/2014/main" val="2016462298"/>
                    </a:ext>
                  </a:extLst>
                </a:gridCol>
                <a:gridCol w="2697753">
                  <a:extLst>
                    <a:ext uri="{9D8B030D-6E8A-4147-A177-3AD203B41FA5}">
                      <a16:colId xmlns:a16="http://schemas.microsoft.com/office/drawing/2014/main" val="4150198690"/>
                    </a:ext>
                  </a:extLst>
                </a:gridCol>
              </a:tblGrid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964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374176039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info to a specific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00705810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FullName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to display on the portfolio.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5997839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Profession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Professional title (e.g., Full Stack Dev).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90853920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Email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Contact email for the portfolio visitor.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1475929685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Phone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Contact phone number.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3757996558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Location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User's location (City, Country).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2647375527"/>
                  </a:ext>
                </a:extLst>
              </a:tr>
              <a:tr h="425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ProfileImagePath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Path to the uploaded profile picture.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1763" marR="31763" marT="0" marB="0" anchor="ctr"/>
                </a:tc>
                <a:extLst>
                  <a:ext uri="{0D108BD9-81ED-4DB2-BD59-A6C34878D82A}">
                    <a16:rowId xmlns:a16="http://schemas.microsoft.com/office/drawing/2014/main" val="3363429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894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60E8F122-6411-4955-9C18-274B56F9F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47609A9F-D5ED-97D7-427A-3965D9F26CF3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B70B8B-C961-AE6B-06A5-C4EABCC7BF19}"/>
              </a:ext>
            </a:extLst>
          </p:cNvPr>
          <p:cNvSpPr txBox="1"/>
          <p:nvPr/>
        </p:nvSpPr>
        <p:spPr>
          <a:xfrm>
            <a:off x="53340" y="412512"/>
            <a:ext cx="6037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Experiences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work experience entries for resumes/portfolios.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185EF0-195B-4B8B-99D5-CF6896353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66049"/>
              </p:ext>
            </p:extLst>
          </p:nvPr>
        </p:nvGraphicFramePr>
        <p:xfrm>
          <a:off x="378135" y="1326912"/>
          <a:ext cx="8284604" cy="361635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2071151">
                  <a:extLst>
                    <a:ext uri="{9D8B030D-6E8A-4147-A177-3AD203B41FA5}">
                      <a16:colId xmlns:a16="http://schemas.microsoft.com/office/drawing/2014/main" val="2817170066"/>
                    </a:ext>
                  </a:extLst>
                </a:gridCol>
                <a:gridCol w="1442070">
                  <a:extLst>
                    <a:ext uri="{9D8B030D-6E8A-4147-A177-3AD203B41FA5}">
                      <a16:colId xmlns:a16="http://schemas.microsoft.com/office/drawing/2014/main" val="61152103"/>
                    </a:ext>
                  </a:extLst>
                </a:gridCol>
                <a:gridCol w="2213811">
                  <a:extLst>
                    <a:ext uri="{9D8B030D-6E8A-4147-A177-3AD203B41FA5}">
                      <a16:colId xmlns:a16="http://schemas.microsoft.com/office/drawing/2014/main" val="2099816661"/>
                    </a:ext>
                  </a:extLst>
                </a:gridCol>
                <a:gridCol w="2557572">
                  <a:extLst>
                    <a:ext uri="{9D8B030D-6E8A-4147-A177-3AD203B41FA5}">
                      <a16:colId xmlns:a16="http://schemas.microsoft.com/office/drawing/2014/main" val="1707367770"/>
                    </a:ext>
                  </a:extLst>
                </a:gridCol>
              </a:tblGrid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822977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865033449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experience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2075222465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CompanyName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employer/company.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611679293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Role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Job title/position held.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4148333961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StartDate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role began.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188599282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EndDate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role ended (null if current).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1763508189"/>
                  </a:ext>
                </a:extLst>
              </a:tr>
              <a:tr h="45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 of responsibilities.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2351" marR="42351" marT="0" marB="0" anchor="ctr"/>
                </a:tc>
                <a:extLst>
                  <a:ext uri="{0D108BD9-81ED-4DB2-BD59-A6C34878D82A}">
                    <a16:rowId xmlns:a16="http://schemas.microsoft.com/office/drawing/2014/main" val="222743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8613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AA42A97-5FB0-A5A5-6779-FF52DCFB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34CC6D79-F3CD-EEAD-226B-22D18AC09AFF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025324-2598-4B01-757D-199DD041F189}"/>
              </a:ext>
            </a:extLst>
          </p:cNvPr>
          <p:cNvSpPr txBox="1"/>
          <p:nvPr/>
        </p:nvSpPr>
        <p:spPr>
          <a:xfrm>
            <a:off x="53340" y="412512"/>
            <a:ext cx="6046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Projects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project details to be showcased in the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CFAEB99-FE7D-1FE6-CD55-A1F1546EB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07311"/>
              </p:ext>
            </p:extLst>
          </p:nvPr>
        </p:nvGraphicFramePr>
        <p:xfrm>
          <a:off x="302508" y="1299836"/>
          <a:ext cx="8250224" cy="3431152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00030">
                  <a:extLst>
                    <a:ext uri="{9D8B030D-6E8A-4147-A177-3AD203B41FA5}">
                      <a16:colId xmlns:a16="http://schemas.microsoft.com/office/drawing/2014/main" val="2785604498"/>
                    </a:ext>
                  </a:extLst>
                </a:gridCol>
                <a:gridCol w="1670671">
                  <a:extLst>
                    <a:ext uri="{9D8B030D-6E8A-4147-A177-3AD203B41FA5}">
                      <a16:colId xmlns:a16="http://schemas.microsoft.com/office/drawing/2014/main" val="1385291622"/>
                    </a:ext>
                  </a:extLst>
                </a:gridCol>
                <a:gridCol w="2585071">
                  <a:extLst>
                    <a:ext uri="{9D8B030D-6E8A-4147-A177-3AD203B41FA5}">
                      <a16:colId xmlns:a16="http://schemas.microsoft.com/office/drawing/2014/main" val="2884538886"/>
                    </a:ext>
                  </a:extLst>
                </a:gridCol>
                <a:gridCol w="2894452">
                  <a:extLst>
                    <a:ext uri="{9D8B030D-6E8A-4147-A177-3AD203B41FA5}">
                      <a16:colId xmlns:a16="http://schemas.microsoft.com/office/drawing/2014/main" val="2399082438"/>
                    </a:ext>
                  </a:extLst>
                </a:gridCol>
              </a:tblGrid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388960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project.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412136854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project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3716478835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ProjectTitle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project.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724811413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Overview of the project work.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1193314471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TechStack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Technologies used (e.g., React, SQL).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599083825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GitHubLink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 to the source code repository.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2067105977"/>
                  </a:ext>
                </a:extLst>
              </a:tr>
              <a:tr h="42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LiveLink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 to the hosted project demo.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34939" marR="34939" marT="0" marB="0" anchor="ctr"/>
                </a:tc>
                <a:extLst>
                  <a:ext uri="{0D108BD9-81ED-4DB2-BD59-A6C34878D82A}">
                    <a16:rowId xmlns:a16="http://schemas.microsoft.com/office/drawing/2014/main" val="4162152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73254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94BC979-7871-FE33-E01E-50C83BAD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E6992053-114D-1DAE-5416-366D10656C0D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6DFD91-6A6D-95DD-DE61-C7CCEBDEC98E}"/>
              </a:ext>
            </a:extLst>
          </p:cNvPr>
          <p:cNvSpPr txBox="1"/>
          <p:nvPr/>
        </p:nvSpPr>
        <p:spPr>
          <a:xfrm>
            <a:off x="53340" y="412512"/>
            <a:ext cx="62504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Skills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technical or soft skills and their proficiency levels.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E4FED21-8B71-37C0-09A1-1F04528D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243066"/>
              </p:ext>
            </p:extLst>
          </p:nvPr>
        </p:nvGraphicFramePr>
        <p:xfrm>
          <a:off x="453763" y="1314688"/>
          <a:ext cx="6957690" cy="34163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10652">
                  <a:extLst>
                    <a:ext uri="{9D8B030D-6E8A-4147-A177-3AD203B41FA5}">
                      <a16:colId xmlns:a16="http://schemas.microsoft.com/office/drawing/2014/main" val="3019946684"/>
                    </a:ext>
                  </a:extLst>
                </a:gridCol>
                <a:gridCol w="1168782">
                  <a:extLst>
                    <a:ext uri="{9D8B030D-6E8A-4147-A177-3AD203B41FA5}">
                      <a16:colId xmlns:a16="http://schemas.microsoft.com/office/drawing/2014/main" val="1641935926"/>
                    </a:ext>
                  </a:extLst>
                </a:gridCol>
                <a:gridCol w="2193185">
                  <a:extLst>
                    <a:ext uri="{9D8B030D-6E8A-4147-A177-3AD203B41FA5}">
                      <a16:colId xmlns:a16="http://schemas.microsoft.com/office/drawing/2014/main" val="1339453984"/>
                    </a:ext>
                  </a:extLst>
                </a:gridCol>
                <a:gridCol w="2585071">
                  <a:extLst>
                    <a:ext uri="{9D8B030D-6E8A-4147-A177-3AD203B41FA5}">
                      <a16:colId xmlns:a16="http://schemas.microsoft.com/office/drawing/2014/main" val="1304825885"/>
                    </a:ext>
                  </a:extLst>
                </a:gridCol>
              </a:tblGrid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190901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1549687483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skill to a portfolio.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101390902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SkillName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NVARCHAR(100)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skill (e.g., Java).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473320868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SkillLevel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Level (e.g., Beginner, Advanced).</a:t>
                      </a:r>
                      <a:endParaRPr lang="en-IN" sz="10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179594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21983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5B925CB-0A4F-8F8C-80F0-4B252149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F1470027-23D4-2C55-30EB-7C4CD5D1A003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36504B-7C6E-F230-BF22-54230F5A21DB}"/>
              </a:ext>
            </a:extLst>
          </p:cNvPr>
          <p:cNvSpPr txBox="1"/>
          <p:nvPr/>
        </p:nvSpPr>
        <p:spPr>
          <a:xfrm>
            <a:off x="53340" y="412512"/>
            <a:ext cx="49744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 err="1"/>
              <a:t>SocialLinks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social media URLs for the portfolio.</a:t>
            </a:r>
            <a:endParaRPr lang="en-IN" sz="1600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6DAC53-4128-AFB9-7E39-D4E3F724B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778102"/>
              </p:ext>
            </p:extLst>
          </p:nvPr>
        </p:nvGraphicFramePr>
        <p:xfrm>
          <a:off x="543139" y="1441470"/>
          <a:ext cx="7239575" cy="34163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10653">
                  <a:extLst>
                    <a:ext uri="{9D8B030D-6E8A-4147-A177-3AD203B41FA5}">
                      <a16:colId xmlns:a16="http://schemas.microsoft.com/office/drawing/2014/main" val="1136986709"/>
                    </a:ext>
                  </a:extLst>
                </a:gridCol>
                <a:gridCol w="1196283">
                  <a:extLst>
                    <a:ext uri="{9D8B030D-6E8A-4147-A177-3AD203B41FA5}">
                      <a16:colId xmlns:a16="http://schemas.microsoft.com/office/drawing/2014/main" val="1598329851"/>
                    </a:ext>
                  </a:extLst>
                </a:gridCol>
                <a:gridCol w="2406316">
                  <a:extLst>
                    <a:ext uri="{9D8B030D-6E8A-4147-A177-3AD203B41FA5}">
                      <a16:colId xmlns:a16="http://schemas.microsoft.com/office/drawing/2014/main" val="3864109984"/>
                    </a:ext>
                  </a:extLst>
                </a:gridCol>
                <a:gridCol w="2626323">
                  <a:extLst>
                    <a:ext uri="{9D8B030D-6E8A-4147-A177-3AD203B41FA5}">
                      <a16:colId xmlns:a16="http://schemas.microsoft.com/office/drawing/2014/main" val="3379325981"/>
                    </a:ext>
                  </a:extLst>
                </a:gridCol>
              </a:tblGrid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0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0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2062509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link.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53973800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social link to a portfolio.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527155194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Platform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e.g. LinkedIn, Twitter, GitHub.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787581710"/>
                  </a:ext>
                </a:extLst>
              </a:tr>
              <a:tr h="6832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Url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NVARCHAR(255)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0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 to the user's profile.</a:t>
                      </a:r>
                      <a:endParaRPr lang="en-IN" sz="10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63526" marR="63526" marT="0" marB="0" anchor="ctr"/>
                </a:tc>
                <a:extLst>
                  <a:ext uri="{0D108BD9-81ED-4DB2-BD59-A6C34878D82A}">
                    <a16:rowId xmlns:a16="http://schemas.microsoft.com/office/drawing/2014/main" val="2145923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64091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A10D988E-6713-6BA0-78EE-E577380B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F143C864-5FE4-DF64-2DBC-F0862E7561FE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1DC9A-7E6D-96EE-4B25-09375525A711}"/>
              </a:ext>
            </a:extLst>
          </p:cNvPr>
          <p:cNvSpPr txBox="1"/>
          <p:nvPr/>
        </p:nvSpPr>
        <p:spPr>
          <a:xfrm>
            <a:off x="53340" y="491550"/>
            <a:ext cx="61205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Feedback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user ratings and feedback for the platform itself.</a:t>
            </a:r>
            <a:endParaRPr lang="en-IN" sz="1600" b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E7DB1F-923A-F89C-D6BF-4C3944040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131294"/>
              </p:ext>
            </p:extLst>
          </p:nvPr>
        </p:nvGraphicFramePr>
        <p:xfrm>
          <a:off x="660018" y="1290726"/>
          <a:ext cx="7163944" cy="3416301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928150">
                  <a:extLst>
                    <a:ext uri="{9D8B030D-6E8A-4147-A177-3AD203B41FA5}">
                      <a16:colId xmlns:a16="http://schemas.microsoft.com/office/drawing/2014/main" val="1752619085"/>
                    </a:ext>
                  </a:extLst>
                </a:gridCol>
                <a:gridCol w="1409414">
                  <a:extLst>
                    <a:ext uri="{9D8B030D-6E8A-4147-A177-3AD203B41FA5}">
                      <a16:colId xmlns:a16="http://schemas.microsoft.com/office/drawing/2014/main" val="1537799421"/>
                    </a:ext>
                  </a:extLst>
                </a:gridCol>
                <a:gridCol w="2316938">
                  <a:extLst>
                    <a:ext uri="{9D8B030D-6E8A-4147-A177-3AD203B41FA5}">
                      <a16:colId xmlns:a16="http://schemas.microsoft.com/office/drawing/2014/main" val="3811769020"/>
                    </a:ext>
                  </a:extLst>
                </a:gridCol>
                <a:gridCol w="2509442">
                  <a:extLst>
                    <a:ext uri="{9D8B030D-6E8A-4147-A177-3AD203B41FA5}">
                      <a16:colId xmlns:a16="http://schemas.microsoft.com/office/drawing/2014/main" val="88124682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48467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feedback.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323183094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UserId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(Users.Id)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The user giving the feedback.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144200982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Optional reference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573138063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Rating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CHECK (1-5)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Star rating given by the user.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93639707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Message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NVARCHAR(MAX)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Review comment or message.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4136213576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CreatedAt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DATETIME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DEFAULT(GETDATE())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Date the feedback was submitted.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55903" marR="55903" marT="0" marB="0" anchor="ctr"/>
                </a:tc>
                <a:extLst>
                  <a:ext uri="{0D108BD9-81ED-4DB2-BD59-A6C34878D82A}">
                    <a16:rowId xmlns:a16="http://schemas.microsoft.com/office/drawing/2014/main" val="211105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06033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CE518C17-4329-FD79-97CE-A11CE208A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5">
            <a:extLst>
              <a:ext uri="{FF2B5EF4-FFF2-40B4-BE49-F238E27FC236}">
                <a16:creationId xmlns:a16="http://schemas.microsoft.com/office/drawing/2014/main" id="{3F6AA62F-9558-76A6-3C4C-0915B45F2829}"/>
              </a:ext>
            </a:extLst>
          </p:cNvPr>
          <p:cNvSpPr txBox="1"/>
          <p:nvPr/>
        </p:nvSpPr>
        <p:spPr>
          <a:xfrm>
            <a:off x="53340" y="91440"/>
            <a:ext cx="2456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>
                <a:solidFill>
                  <a:schemeClr val="accent3">
                    <a:lumMod val="95000"/>
                  </a:schemeClr>
                </a:solidFill>
                <a:latin typeface="+mj-lt"/>
              </a:rPr>
              <a:t>16 </a:t>
            </a:r>
            <a:r>
              <a:rPr lang="en-IN" sz="20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Data Dictionary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64295C-1B13-AB17-EE08-C1ED97CD714C}"/>
              </a:ext>
            </a:extLst>
          </p:cNvPr>
          <p:cNvSpPr txBox="1"/>
          <p:nvPr/>
        </p:nvSpPr>
        <p:spPr>
          <a:xfrm>
            <a:off x="53340" y="491550"/>
            <a:ext cx="59634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000" b="1">
                <a:solidFill>
                  <a:schemeClr val="accent3">
                    <a:lumMod val="95000"/>
                  </a:schemeClr>
                </a:solidFill>
                <a:latin typeface="+mj-lt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1600" dirty="0"/>
              <a:t>Table Name: </a:t>
            </a:r>
            <a:r>
              <a:rPr lang="en-US" sz="1600" b="0" dirty="0"/>
              <a:t>Education</a:t>
            </a:r>
            <a:endParaRPr lang="en-IN" sz="1600" b="0" dirty="0"/>
          </a:p>
          <a:p>
            <a:r>
              <a:rPr lang="en-IN" sz="1600" dirty="0"/>
              <a:t>Purpose: </a:t>
            </a:r>
            <a:r>
              <a:rPr lang="en-US" sz="1600" b="0" dirty="0"/>
              <a:t>Stores academic qualifications and education history.</a:t>
            </a:r>
            <a:endParaRPr lang="en-IN" sz="1600" b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54751E-1571-2FB9-E07F-92BC4447ED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195957"/>
              </p:ext>
            </p:extLst>
          </p:nvPr>
        </p:nvGraphicFramePr>
        <p:xfrm>
          <a:off x="605017" y="1392535"/>
          <a:ext cx="7150197" cy="3416298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55031">
                  <a:extLst>
                    <a:ext uri="{9D8B030D-6E8A-4147-A177-3AD203B41FA5}">
                      <a16:colId xmlns:a16="http://schemas.microsoft.com/office/drawing/2014/main" val="2994800207"/>
                    </a:ext>
                  </a:extLst>
                </a:gridCol>
                <a:gridCol w="1485041">
                  <a:extLst>
                    <a:ext uri="{9D8B030D-6E8A-4147-A177-3AD203B41FA5}">
                      <a16:colId xmlns:a16="http://schemas.microsoft.com/office/drawing/2014/main" val="1299108843"/>
                    </a:ext>
                  </a:extLst>
                </a:gridCol>
                <a:gridCol w="2110682">
                  <a:extLst>
                    <a:ext uri="{9D8B030D-6E8A-4147-A177-3AD203B41FA5}">
                      <a16:colId xmlns:a16="http://schemas.microsoft.com/office/drawing/2014/main" val="1149411587"/>
                    </a:ext>
                  </a:extLst>
                </a:gridCol>
                <a:gridCol w="2399443">
                  <a:extLst>
                    <a:ext uri="{9D8B030D-6E8A-4147-A177-3AD203B41FA5}">
                      <a16:colId xmlns:a16="http://schemas.microsoft.com/office/drawing/2014/main" val="1418051661"/>
                    </a:ext>
                  </a:extLst>
                </a:gridCol>
              </a:tblGrid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Field Name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Data Type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Constraints</a:t>
                      </a:r>
                      <a:endParaRPr lang="en-IN" sz="1200" b="1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Description</a:t>
                      </a:r>
                      <a:endParaRPr lang="en-IN" sz="1200" b="1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7153334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PRIMARY KEY, IDENTITY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Unique identifier for the entry.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96328820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 err="1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PortfolioId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INT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FOREIGN KEY (Portfolios.Id)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Links education to a portfolio.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3630410462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Degree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degree or course.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02564590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Institution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NVARCHAR(150)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Name of the school, college, or university.</a:t>
                      </a:r>
                      <a:endParaRPr lang="en-IN" sz="1200" kern="10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2431384172"/>
                  </a:ext>
                </a:extLst>
              </a:tr>
              <a:tr h="5693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Year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NVARCHAR(50)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NULL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kern="100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</a:rPr>
                        <a:t>Passing year or duration.</a:t>
                      </a:r>
                      <a:endParaRPr lang="en-IN" sz="1200" kern="100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Mangal" panose="02040503050203030202" pitchFamily="18" charset="0"/>
                      </a:endParaRPr>
                    </a:p>
                  </a:txBody>
                  <a:tcPr marL="41105" marR="41105" marT="0" marB="0" anchor="ctr"/>
                </a:tc>
                <a:extLst>
                  <a:ext uri="{0D108BD9-81ED-4DB2-BD59-A6C34878D82A}">
                    <a16:rowId xmlns:a16="http://schemas.microsoft.com/office/drawing/2014/main" val="655221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5702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44E9CA6A-B68A-E7C7-C14B-3769A8978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71AED1-EF4F-8B1F-9740-0501F52F5665}"/>
              </a:ext>
            </a:extLst>
          </p:cNvPr>
          <p:cNvSpPr txBox="1"/>
          <p:nvPr/>
        </p:nvSpPr>
        <p:spPr>
          <a:xfrm>
            <a:off x="2457478" y="2156251"/>
            <a:ext cx="42290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Development</a:t>
            </a:r>
          </a:p>
        </p:txBody>
      </p:sp>
    </p:spTree>
    <p:extLst>
      <p:ext uri="{BB962C8B-B14F-4D97-AF65-F5344CB8AC3E}">
        <p14:creationId xmlns:p14="http://schemas.microsoft.com/office/powerpoint/2010/main" val="4049864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86368804-1E6F-C12E-6078-38860D03F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4FC218-A24B-8B47-6291-7992D220E11C}"/>
              </a:ext>
            </a:extLst>
          </p:cNvPr>
          <p:cNvSpPr txBox="1"/>
          <p:nvPr/>
        </p:nvSpPr>
        <p:spPr>
          <a:xfrm>
            <a:off x="541195" y="309592"/>
            <a:ext cx="56769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Developed using an agile, solo-developer approach covering the complete project lifecycle from design to deployment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Followed a task-based “Separation of Concerns” strategy for structured development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Project divided into three major phases:</a:t>
            </a:r>
          </a:p>
          <a:p>
            <a:pPr lvl="6">
              <a:buClr>
                <a:schemeClr val="accent3">
                  <a:lumMod val="95000"/>
                </a:schemeClr>
              </a:buClr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	Database Schema Design Backend 	Development using ASP.NET C# Frontend 	UI/UX Development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Each module was independently developed and unit-tested before integration 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Iterative integration into the MVC framework ensured smooth functionality and maintainability </a:t>
            </a:r>
          </a:p>
          <a:p>
            <a:pPr marL="285750" lvl="6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3">
                    <a:lumMod val="95000"/>
                  </a:schemeClr>
                </a:solidFill>
              </a:rPr>
              <a:t>Portfolio generation logic remained decoupled from the presentation layer for better scalability and system stability</a:t>
            </a:r>
          </a:p>
        </p:txBody>
      </p:sp>
    </p:spTree>
    <p:extLst>
      <p:ext uri="{BB962C8B-B14F-4D97-AF65-F5344CB8AC3E}">
        <p14:creationId xmlns:p14="http://schemas.microsoft.com/office/powerpoint/2010/main" val="2187596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A80DB7ED-AF31-67AC-395F-0E2DA4674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7D080E63-C0A0-412C-444B-21A5F7F74077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Coding</a:t>
            </a:r>
            <a:r>
              <a:rPr lang="en-IN" sz="2500" dirty="0">
                <a:latin typeface="Qurova DEMO Med" pitchFamily="50" charset="0"/>
              </a:rPr>
              <a:t> </a:t>
            </a:r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Standards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1F51A2-5AC8-B011-B509-B5C2F528B648}"/>
              </a:ext>
            </a:extLst>
          </p:cNvPr>
          <p:cNvSpPr txBox="1"/>
          <p:nvPr/>
        </p:nvSpPr>
        <p:spPr>
          <a:xfrm>
            <a:off x="210880" y="941826"/>
            <a:ext cx="63347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Followed industry-standard coding practices to maintain clean, readable, and maintainable code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Backend C# naming conventions used PascalCase for classes, methods, properties, and namespaces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Local variables and JavaScript functions/variables used camelCase naming convention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CSS classes and IDs followed kebab-case formatting for better frontend consistency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Database tables and columns used structured PascalCase naming with consistent primary key naming (Id)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Standard 4-space indentation and Allman brace style used throughout the project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XML documentation and necessary inline comments added for better code understanding </a:t>
            </a:r>
          </a:p>
          <a:p>
            <a:pPr marL="285750" indent="-285750"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accent3">
                    <a:lumMod val="95000"/>
                  </a:schemeClr>
                </a:solidFill>
              </a:rPr>
              <a:t>Project structured using the MVC architecture pattern for clear separation of data, business logic, and UI components </a:t>
            </a:r>
          </a:p>
        </p:txBody>
      </p:sp>
    </p:spTree>
    <p:extLst>
      <p:ext uri="{BB962C8B-B14F-4D97-AF65-F5344CB8AC3E}">
        <p14:creationId xmlns:p14="http://schemas.microsoft.com/office/powerpoint/2010/main" val="2904360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E5C838E7-B498-16DD-3248-99DF205F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8AB8B75-EBA6-6A9E-0F6B-CB96C2EB9456}"/>
              </a:ext>
            </a:extLst>
          </p:cNvPr>
          <p:cNvSpPr txBox="1"/>
          <p:nvPr/>
        </p:nvSpPr>
        <p:spPr>
          <a:xfrm>
            <a:off x="2670678" y="2156251"/>
            <a:ext cx="3802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Screenshots</a:t>
            </a:r>
          </a:p>
        </p:txBody>
      </p:sp>
    </p:spTree>
    <p:extLst>
      <p:ext uri="{BB962C8B-B14F-4D97-AF65-F5344CB8AC3E}">
        <p14:creationId xmlns:p14="http://schemas.microsoft.com/office/powerpoint/2010/main" val="42949126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6F572F-D78A-8DDE-E669-5489A674E92D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Home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9612BB-CA17-89D4-C75F-AAC5D16485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15" y="801047"/>
            <a:ext cx="7729970" cy="4152740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1616728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B6528-ED4A-914D-AE0B-39E9C49FA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757331-0633-0A05-5D76-8B497DEE2022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Home Page….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92074-22C9-20AD-B421-3B47D885FC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07074" y="801047"/>
            <a:ext cx="7729852" cy="4152740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1392531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84EF0-EA83-62EE-0EAF-17ADBE002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DDE729-256A-7508-C225-98ED20F5012A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Home Page….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5BCB9F-3D65-175B-C2E9-74EA905411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07074" y="801047"/>
            <a:ext cx="7729852" cy="4152739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0148329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82AAB-3003-9EF3-7507-C9088E3B9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CBF1853-6005-1DE1-1CA1-55897CC547F6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Home Page….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A452AD-1F53-EDE3-6120-812669BBF8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1047"/>
            <a:ext cx="7714575" cy="4152739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5544296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6D12-FC9A-897F-894C-E2E72D077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2679C90-0D18-5DAD-BAF0-CE7423199EFA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Home Page….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54E2D2-4B82-397C-4E33-64C42EEF4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5150"/>
            <a:ext cx="7714575" cy="4144532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3732308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A0AB8-98B0-5D23-C99F-FCEE55C88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3938DFC-EE6B-F8F3-6E1A-4044BA22E650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Login / Create Account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7D0FF1-F711-69F2-20F6-76551D04CF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5150"/>
            <a:ext cx="7714574" cy="4144532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24943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1267-FAB5-DE49-1FD6-31BCBE860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F279104-BDEE-B4E7-6843-29E775C64644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Login / Create Account Page…..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C7512A-29C5-1D2E-FEAB-33E062442B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9254"/>
            <a:ext cx="7714574" cy="4136324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969003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F813-038A-B50B-F4F6-9E5708374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3DA5F-413A-D680-3864-ED7BF9D7B3A1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Login / Create Account Page…..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1FE31A-C4E3-4E77-EC96-266A5273B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9254"/>
            <a:ext cx="7714573" cy="4136324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4806858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0D3F3-261E-742D-7DD5-9D821B77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0996423-B757-9F34-85F7-3E0D5065CA08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Edit Profile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EA953D-7D8B-A8A3-B9F2-AB9A5032AA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2" y="809254"/>
            <a:ext cx="7714573" cy="4136323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40368016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A6492-0C96-13A3-DD3C-9FAB12776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E70574D-98B6-A21F-DBCB-3BF9FD2431CB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Edit Profile Page……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292577-36F9-A872-610E-A71DEE4EAB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4713" y="809254"/>
            <a:ext cx="7714571" cy="4136323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6434718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085D-5B98-B7B0-B07D-EA113595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FE859C-B9A7-5260-A517-0264D922B993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Notification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857419-C038-EC89-32BA-9D870AB02D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2351" y="809254"/>
            <a:ext cx="7699294" cy="4136323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1243436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E74CC-9DCA-3CB6-011F-311DE9500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5D5653-23BD-BD35-B4DF-7154083D9BEC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Feedback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B97465-12EF-EA9A-CAF2-8A90AFDCFD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9958" y="809254"/>
            <a:ext cx="7684079" cy="4136323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4441275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84A48-81DD-19B0-4B9C-75F46DAB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A3E528-818F-2E35-BD46-EB48680E602F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Suspend Account Page (Mange Account Page)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D5D6EB-1146-65D2-681F-4865EE1DB7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37536" y="809254"/>
            <a:ext cx="7668922" cy="4136323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519800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FE7F-3C51-F509-DA0F-14CAD66AB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60686AC-9DCB-FBB4-8CC9-15954FE0FECA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Upload Template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9679F0-7CD5-1CA1-EA2A-A46498CC5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37536" y="817413"/>
            <a:ext cx="7668922" cy="4120005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7420191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A4EF1-5CCB-9B50-F254-6C89B636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20B2DA-124C-8F7B-BE82-A4D4D69A96FF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Manage Template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D45898-1242-D6A9-D40C-E99D674FA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37537" y="817413"/>
            <a:ext cx="7668920" cy="4120005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1672601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05B1-C454-173B-ECD6-172669B48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01FF6E-665E-B849-8095-75FEE77D8089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Explore Template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C8D5A8-8E18-164B-EB74-C5905DE69C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37537" y="829651"/>
            <a:ext cx="7668920" cy="4095529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842863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B486B-5168-F276-0CDE-54931F29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DFDB6D-1BA6-5DC4-1F8D-E83AE6B573A1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Create Portfolio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B407D5-8EF6-D9CC-6037-D5AF76508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2753" y="829651"/>
            <a:ext cx="7638487" cy="4095529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9463631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0BB00-B446-D2D2-EBE8-6EDA01388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CA377B4-A5C7-AF34-BD0B-CBEF1AA8D2A6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Create Portfolio Page…..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E8A3FF-8436-809D-0F14-43BB45F00D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316" y="829651"/>
            <a:ext cx="7623360" cy="4095529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9150999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85601-A0CF-BDBB-61E0-A05FDE12A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182F02-31B3-7387-7C60-11AB1BA54CB3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Create Portfolio Page…..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1761DF-D077-24AE-126B-5022403769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60316" y="841816"/>
            <a:ext cx="7623360" cy="4071198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4912928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2B750-E96E-BF1A-B73E-30872BEC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4294AE-CA96-B985-3F77-6D266E9703B1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Create Portfolio Page…..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592365-8074-398B-EC21-55486C329E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82960" y="841816"/>
            <a:ext cx="7578071" cy="4071198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7613080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17DF7-EE5C-CE6A-3B33-56035E1E4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E8AD28-C7C3-9D97-7F9D-20EF90F328AB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User Dashboard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CEE58-6F33-F21E-FD82-41DF66F05C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82960" y="841816"/>
            <a:ext cx="7578071" cy="4071197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1203334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17418-BC29-C805-70BC-208CE6CC7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9E6DDDE-3C5E-CB11-C2AF-1161F38F0776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Admin Portfolio Management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58D812-0F80-9ABA-6A66-1870E49B45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82960" y="845847"/>
            <a:ext cx="7578071" cy="4063135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36825011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186EB-9C4A-E9BB-497B-75188591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7AE6D9-6A2C-1FAF-31D9-F119AC3E1753}"/>
              </a:ext>
            </a:extLst>
          </p:cNvPr>
          <p:cNvSpPr txBox="1"/>
          <p:nvPr/>
        </p:nvSpPr>
        <p:spPr>
          <a:xfrm>
            <a:off x="210880" y="18971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Admin Dashboard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482FF4-5177-9177-9655-F37E4DC7DE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82960" y="845847"/>
            <a:ext cx="7578070" cy="4063135"/>
          </a:xfrm>
          <a:prstGeom prst="rect">
            <a:avLst/>
          </a:prstGeom>
          <a:ln>
            <a:noFill/>
          </a:ln>
          <a:effectLst>
            <a:glow>
              <a:schemeClr val="accent1">
                <a:alpha val="40000"/>
              </a:schemeClr>
            </a:glow>
            <a:outerShdw blurRad="292100" dist="139700" dir="2700000" algn="tl" rotWithShape="0">
              <a:srgbClr val="333333">
                <a:alpha val="65000"/>
              </a:srgbClr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6750394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>
          <a:extLst>
            <a:ext uri="{FF2B5EF4-FFF2-40B4-BE49-F238E27FC236}">
              <a16:creationId xmlns:a16="http://schemas.microsoft.com/office/drawing/2014/main" id="{B8640957-C9A2-BC0F-2049-980A6E5C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F8EB30F-DE3C-9477-A52A-DD0B24260250}"/>
              </a:ext>
            </a:extLst>
          </p:cNvPr>
          <p:cNvSpPr txBox="1"/>
          <p:nvPr/>
        </p:nvSpPr>
        <p:spPr>
          <a:xfrm>
            <a:off x="1372245" y="1740753"/>
            <a:ext cx="63995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1653186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76401B9D-D2E4-C44A-624C-96D213D22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B56B300-321A-92FD-474A-38572B160C63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Project Character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BA60A3-07CA-9640-3A58-5B17B751F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354951"/>
              </p:ext>
            </p:extLst>
          </p:nvPr>
        </p:nvGraphicFramePr>
        <p:xfrm>
          <a:off x="357765" y="1341120"/>
          <a:ext cx="5394325" cy="324000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512599">
                  <a:extLst>
                    <a:ext uri="{9D8B030D-6E8A-4147-A177-3AD203B41FA5}">
                      <a16:colId xmlns:a16="http://schemas.microsoft.com/office/drawing/2014/main" val="27280500"/>
                    </a:ext>
                  </a:extLst>
                </a:gridCol>
                <a:gridCol w="3881726">
                  <a:extLst>
                    <a:ext uri="{9D8B030D-6E8A-4147-A177-3AD203B41FA5}">
                      <a16:colId xmlns:a16="http://schemas.microsoft.com/office/drawing/2014/main" val="2933966863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Field Name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Details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99566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Name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Portify - Automated Portfolio Generator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5671235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Champion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39682834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Sponsor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L.J Institute of Computer Application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12761515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Manager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897265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Lead Developer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Vaghela Purvarajsinh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01004926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Key Stakeholders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L.J Institute of Computer Application, Students, and Young Professionals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0580548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Duration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[Insert Start Date] to [Insert Completion Date]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8092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2894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B204D66-FD28-8CCC-3525-C9110D46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ADB3B04-A185-2650-E473-2DB314F22621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Project Character…..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7558D5-DD72-FE01-117C-3523CF7E6E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895815"/>
              </p:ext>
            </p:extLst>
          </p:nvPr>
        </p:nvGraphicFramePr>
        <p:xfrm>
          <a:off x="676420" y="1392728"/>
          <a:ext cx="5394325" cy="3031490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163955">
                  <a:extLst>
                    <a:ext uri="{9D8B030D-6E8A-4147-A177-3AD203B41FA5}">
                      <a16:colId xmlns:a16="http://schemas.microsoft.com/office/drawing/2014/main" val="4172703428"/>
                    </a:ext>
                  </a:extLst>
                </a:gridCol>
                <a:gridCol w="4230370">
                  <a:extLst>
                    <a:ext uri="{9D8B030D-6E8A-4147-A177-3AD203B41FA5}">
                      <a16:colId xmlns:a16="http://schemas.microsoft.com/office/drawing/2014/main" val="4275982875"/>
                    </a:ext>
                  </a:extLst>
                </a:gridCol>
              </a:tblGrid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Category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Category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361739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Vision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To become the leading automated platform for generating high-quality, responsive portfolios, providing users with a seamless and efficient tool to build their professional digital presence.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12116811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Mission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To provide a seamless, automated platform for professionals and students to generate dynamic, customizable web portfolios by simply inputting their resume data and personal details.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95292329"/>
                  </a:ext>
                </a:extLst>
              </a:tr>
              <a:tr h="28829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Project Scope</a:t>
                      </a:r>
                      <a:endParaRPr lang="en-IN" sz="1200" b="1" i="0" u="none" strike="noStrike" kern="100" cap="none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200" b="1" i="0" u="none" strike="noStrike" kern="100" cap="none" dirty="0">
                          <a:solidFill>
                            <a:schemeClr val="accent3">
                              <a:lumMod val="85000"/>
                            </a:schemeClr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The system includes user authentication, a dynamic portfolio editor (for personal, academic, and professional data), template management, a server-side rendering engine, and an export system to download standalone HTML portfolios. It also covers administrative control for managing users and templates.</a:t>
                      </a:r>
                      <a:endParaRPr lang="en-IN" sz="1200" b="1" i="0" u="none" strike="noStrike" kern="100" cap="none" dirty="0">
                        <a:solidFill>
                          <a:schemeClr val="accent3">
                            <a:lumMod val="85000"/>
                          </a:schemeClr>
                        </a:solidFill>
                        <a:effectLst/>
                        <a:latin typeface="Arial"/>
                        <a:ea typeface="Times New Roman" panose="02020603050405020304" pitchFamily="18" charset="0"/>
                        <a:cs typeface="Arial"/>
                        <a:sym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62708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75593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D54319D-C834-3CE5-A431-C88607090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D2848F9-1B11-8D65-FEAD-EC522582B572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Roadmap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82AB6C-F336-FE39-B488-9CBCAA19C1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3" y="947189"/>
            <a:ext cx="6528810" cy="361304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33575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35DCD286-001E-063D-EBD9-13A1FA82C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9B629E1-FE18-3282-4FA2-7B3CE8FFAAE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Plan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928D1FB-AB5C-72A7-33DB-A4B184BB9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179253"/>
              </p:ext>
            </p:extLst>
          </p:nvPr>
        </p:nvGraphicFramePr>
        <p:xfrm>
          <a:off x="353188" y="1076328"/>
          <a:ext cx="3519157" cy="3416294"/>
        </p:xfrm>
        <a:graphic>
          <a:graphicData uri="http://schemas.openxmlformats.org/drawingml/2006/table">
            <a:tbl>
              <a:tblPr/>
              <a:tblGrid>
                <a:gridCol w="692830">
                  <a:extLst>
                    <a:ext uri="{9D8B030D-6E8A-4147-A177-3AD203B41FA5}">
                      <a16:colId xmlns:a16="http://schemas.microsoft.com/office/drawing/2014/main" val="646340948"/>
                    </a:ext>
                  </a:extLst>
                </a:gridCol>
                <a:gridCol w="1517073">
                  <a:extLst>
                    <a:ext uri="{9D8B030D-6E8A-4147-A177-3AD203B41FA5}">
                      <a16:colId xmlns:a16="http://schemas.microsoft.com/office/drawing/2014/main" val="1470527864"/>
                    </a:ext>
                  </a:extLst>
                </a:gridCol>
                <a:gridCol w="1309254">
                  <a:extLst>
                    <a:ext uri="{9D8B030D-6E8A-4147-A177-3AD203B41FA5}">
                      <a16:colId xmlns:a16="http://schemas.microsoft.com/office/drawing/2014/main" val="4079086151"/>
                    </a:ext>
                  </a:extLst>
                </a:gridCol>
              </a:tblGrid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Sprint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Main Work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Timeline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158906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S1</a:t>
                      </a:r>
                      <a:endParaRPr lang="en-IN" sz="1100" dirty="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Core &amp; Admin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03–17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934299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DB + Models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03–07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130242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Admin UI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08–12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022915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Auth System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13–17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914564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S2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Templates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18–31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398969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HTML/CSS Design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18–24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5332676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Upload Logic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25–31 Jan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9193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S3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Portfolio Editor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01–15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95478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User Profile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01–05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62563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Portfolio Forms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06–15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078618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S4</a:t>
                      </a: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Preview Engine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 Feb–01 Mar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3287564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Live Preview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16–22 Feb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916670"/>
                  </a:ext>
                </a:extLst>
              </a:tr>
              <a:tr h="2440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Placeholder Logic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23 Feb–01 Mar</a:t>
                      </a:r>
                    </a:p>
                  </a:txBody>
                  <a:tcPr marL="73206" marR="73206" marT="36603" marB="3660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0542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0C07C9-2664-383D-67DE-B78116F3F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7040216"/>
              </p:ext>
            </p:extLst>
          </p:nvPr>
        </p:nvGraphicFramePr>
        <p:xfrm>
          <a:off x="4045476" y="1044580"/>
          <a:ext cx="3520800" cy="3416402"/>
        </p:xfrm>
        <a:graphic>
          <a:graphicData uri="http://schemas.openxmlformats.org/drawingml/2006/table">
            <a:tbl>
              <a:tblPr/>
              <a:tblGrid>
                <a:gridCol w="679946">
                  <a:extLst>
                    <a:ext uri="{9D8B030D-6E8A-4147-A177-3AD203B41FA5}">
                      <a16:colId xmlns:a16="http://schemas.microsoft.com/office/drawing/2014/main" val="2138239709"/>
                    </a:ext>
                  </a:extLst>
                </a:gridCol>
                <a:gridCol w="1667254">
                  <a:extLst>
                    <a:ext uri="{9D8B030D-6E8A-4147-A177-3AD203B41FA5}">
                      <a16:colId xmlns:a16="http://schemas.microsoft.com/office/drawing/2014/main" val="2150994474"/>
                    </a:ext>
                  </a:extLst>
                </a:gridCol>
                <a:gridCol w="1173600">
                  <a:extLst>
                    <a:ext uri="{9D8B030D-6E8A-4147-A177-3AD203B41FA5}">
                      <a16:colId xmlns:a16="http://schemas.microsoft.com/office/drawing/2014/main" val="941364917"/>
                    </a:ext>
                  </a:extLst>
                </a:gridCol>
              </a:tblGrid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Sprint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Main Work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Timeline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7690760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S5</a:t>
                      </a: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Notifications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02–15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0068675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Hangfire Setup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02–07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797697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SMTP + Alerts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08–15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2683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S6</a:t>
                      </a: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AI &amp; Feedback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16–29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532406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Gemini 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16–24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48421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Ratings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25–29 Mar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1930779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S7</a:t>
                      </a:r>
                      <a:endParaRPr lang="en-IN" sz="11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Testing &amp; Deploy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30 Mar–10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434476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Security 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30 Mar–02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2993839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Bug Fixes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03–06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1553612"/>
                  </a:ext>
                </a:extLst>
              </a:tr>
              <a:tr h="31058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1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Deployment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07–10 Apr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877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399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F3597E33-500F-7ABB-A74A-4626DEC4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4A503A5-4A16-5A15-15FE-3AECE1A7CB4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User Story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A5D704-BFE8-CFF7-46E2-B47FF932D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79639"/>
              </p:ext>
            </p:extLst>
          </p:nvPr>
        </p:nvGraphicFramePr>
        <p:xfrm>
          <a:off x="231663" y="1126256"/>
          <a:ext cx="4721338" cy="3582324"/>
        </p:xfrm>
        <a:graphic>
          <a:graphicData uri="http://schemas.openxmlformats.org/drawingml/2006/table">
            <a:tbl>
              <a:tblPr/>
              <a:tblGrid>
                <a:gridCol w="386044">
                  <a:extLst>
                    <a:ext uri="{9D8B030D-6E8A-4147-A177-3AD203B41FA5}">
                      <a16:colId xmlns:a16="http://schemas.microsoft.com/office/drawing/2014/main" val="2804313513"/>
                    </a:ext>
                  </a:extLst>
                </a:gridCol>
                <a:gridCol w="737306">
                  <a:extLst>
                    <a:ext uri="{9D8B030D-6E8A-4147-A177-3AD203B41FA5}">
                      <a16:colId xmlns:a16="http://schemas.microsoft.com/office/drawing/2014/main" val="149899485"/>
                    </a:ext>
                  </a:extLst>
                </a:gridCol>
                <a:gridCol w="1292405">
                  <a:extLst>
                    <a:ext uri="{9D8B030D-6E8A-4147-A177-3AD203B41FA5}">
                      <a16:colId xmlns:a16="http://schemas.microsoft.com/office/drawing/2014/main" val="1427337650"/>
                    </a:ext>
                  </a:extLst>
                </a:gridCol>
                <a:gridCol w="2305583">
                  <a:extLst>
                    <a:ext uri="{9D8B030D-6E8A-4147-A177-3AD203B41FA5}">
                      <a16:colId xmlns:a16="http://schemas.microsoft.com/office/drawing/2014/main" val="616903662"/>
                    </a:ext>
                  </a:extLst>
                </a:gridCol>
              </a:tblGrid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 Type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186282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Select template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matching portfolio design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3492350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Enter 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Create portfolio without coding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857019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View live preview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Check design before download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0030797"/>
                  </a:ext>
                </a:extLst>
              </a:tr>
              <a:tr h="712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HTML portfolio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Host website anywhere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05799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3A32F0-668E-9444-B6D1-79B85E478F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742798"/>
              </p:ext>
            </p:extLst>
          </p:nvPr>
        </p:nvGraphicFramePr>
        <p:xfrm>
          <a:off x="5133108" y="1126255"/>
          <a:ext cx="3879276" cy="3582324"/>
        </p:xfrm>
        <a:graphic>
          <a:graphicData uri="http://schemas.openxmlformats.org/drawingml/2006/table">
            <a:tbl>
              <a:tblPr/>
              <a:tblGrid>
                <a:gridCol w="399599">
                  <a:extLst>
                    <a:ext uri="{9D8B030D-6E8A-4147-A177-3AD203B41FA5}">
                      <a16:colId xmlns:a16="http://schemas.microsoft.com/office/drawing/2014/main" val="3864472360"/>
                    </a:ext>
                  </a:extLst>
                </a:gridCol>
                <a:gridCol w="734244">
                  <a:extLst>
                    <a:ext uri="{9D8B030D-6E8A-4147-A177-3AD203B41FA5}">
                      <a16:colId xmlns:a16="http://schemas.microsoft.com/office/drawing/2014/main" val="59195828"/>
                    </a:ext>
                  </a:extLst>
                </a:gridCol>
                <a:gridCol w="1425922">
                  <a:extLst>
                    <a:ext uri="{9D8B030D-6E8A-4147-A177-3AD203B41FA5}">
                      <a16:colId xmlns:a16="http://schemas.microsoft.com/office/drawing/2014/main" val="1419552935"/>
                    </a:ext>
                  </a:extLst>
                </a:gridCol>
                <a:gridCol w="1319511">
                  <a:extLst>
                    <a:ext uri="{9D8B030D-6E8A-4147-A177-3AD203B41FA5}">
                      <a16:colId xmlns:a16="http://schemas.microsoft.com/office/drawing/2014/main" val="2375389448"/>
                    </a:ext>
                  </a:extLst>
                </a:gridCol>
              </a:tblGrid>
              <a:tr h="574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 Type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624908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 AI Assistant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instant help and guidance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814392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Upload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Add new modern designs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064473"/>
                  </a:ext>
                </a:extLst>
              </a:tr>
              <a:tr h="574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Manage/block users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Keep platform secure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084977"/>
                  </a:ext>
                </a:extLst>
              </a:tr>
              <a:tr h="811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View feedback &amp; ratings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Improve templates and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927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8002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CFD4E75-DE7C-FAB7-9016-E5DA4428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C633DDB-6A7A-C96A-57E3-72597B21C393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Release Plan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E7082A6-7787-0826-20FD-D00C2712BD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081373"/>
              </p:ext>
            </p:extLst>
          </p:nvPr>
        </p:nvGraphicFramePr>
        <p:xfrm>
          <a:off x="231662" y="895706"/>
          <a:ext cx="8424657" cy="3729630"/>
        </p:xfrm>
        <a:graphic>
          <a:graphicData uri="http://schemas.openxmlformats.org/drawingml/2006/table">
            <a:tbl>
              <a:tblPr/>
              <a:tblGrid>
                <a:gridCol w="930691">
                  <a:extLst>
                    <a:ext uri="{9D8B030D-6E8A-4147-A177-3AD203B41FA5}">
                      <a16:colId xmlns:a16="http://schemas.microsoft.com/office/drawing/2014/main" val="4091502192"/>
                    </a:ext>
                  </a:extLst>
                </a:gridCol>
                <a:gridCol w="1961280">
                  <a:extLst>
                    <a:ext uri="{9D8B030D-6E8A-4147-A177-3AD203B41FA5}">
                      <a16:colId xmlns:a16="http://schemas.microsoft.com/office/drawing/2014/main" val="932406684"/>
                    </a:ext>
                  </a:extLst>
                </a:gridCol>
                <a:gridCol w="2416749">
                  <a:extLst>
                    <a:ext uri="{9D8B030D-6E8A-4147-A177-3AD203B41FA5}">
                      <a16:colId xmlns:a16="http://schemas.microsoft.com/office/drawing/2014/main" val="1364634452"/>
                    </a:ext>
                  </a:extLst>
                </a:gridCol>
                <a:gridCol w="3115937">
                  <a:extLst>
                    <a:ext uri="{9D8B030D-6E8A-4147-A177-3AD203B41FA5}">
                      <a16:colId xmlns:a16="http://schemas.microsoft.com/office/drawing/2014/main" val="1305440369"/>
                    </a:ext>
                  </a:extLst>
                </a:gridCol>
              </a:tblGrid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Sprint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Main Task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Timeline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Release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209367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S1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Core &amp; Admin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03–17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29178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DB Setup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03–07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07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696238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Auth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08–17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17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0097795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S2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Template System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18–31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02990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Template UI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18–24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24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506286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ZIP Upload Logic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25–31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31 Jan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239512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/>
                        <a:t>S3</a:t>
                      </a: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Portfolio Editor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01–15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08420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Data Forms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01–10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10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9195"/>
                  </a:ext>
                </a:extLst>
              </a:tr>
              <a:tr h="372963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0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Profile Settings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/>
                        <a:t>11–15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15 Feb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53408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17904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2B3F159D-50B3-866A-52A1-9FADF0C61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A7EF332-1FF5-CE40-6357-AFA014C4A9B8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Release Plan….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DE6A58-65F5-1DF7-BAD8-8C9411AB9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796150"/>
              </p:ext>
            </p:extLst>
          </p:nvPr>
        </p:nvGraphicFramePr>
        <p:xfrm>
          <a:off x="1186312" y="1010283"/>
          <a:ext cx="6654668" cy="3416296"/>
        </p:xfrm>
        <a:graphic>
          <a:graphicData uri="http://schemas.openxmlformats.org/drawingml/2006/table">
            <a:tbl>
              <a:tblPr/>
              <a:tblGrid>
                <a:gridCol w="1663667">
                  <a:extLst>
                    <a:ext uri="{9D8B030D-6E8A-4147-A177-3AD203B41FA5}">
                      <a16:colId xmlns:a16="http://schemas.microsoft.com/office/drawing/2014/main" val="1796253556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40854062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4263539941"/>
                    </a:ext>
                  </a:extLst>
                </a:gridCol>
                <a:gridCol w="1663667">
                  <a:extLst>
                    <a:ext uri="{9D8B030D-6E8A-4147-A177-3AD203B41FA5}">
                      <a16:colId xmlns:a16="http://schemas.microsoft.com/office/drawing/2014/main" val="3255241194"/>
                    </a:ext>
                  </a:extLst>
                </a:gridCol>
              </a:tblGrid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Sprint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Main Task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Timeline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Release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912258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S4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Preview Engine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 Feb–01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8386579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AJAX Preview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16–22 Feb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22 Feb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6995563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HTML Rendering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23 Feb–01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01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06205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S5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Notifications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02–15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7983518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Hangfire Email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02–09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4816084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In-App Alerts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10–15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15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89558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S6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AI &amp; Feedback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58577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Gemini AI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16–24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24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611045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Rating System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25–29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29 Mar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143120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S7</a:t>
                      </a: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Final Testing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30 Mar–10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676857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Bug &amp; Security Fix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30 Mar–04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04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3104499"/>
                  </a:ext>
                </a:extLst>
              </a:tr>
              <a:tr h="262792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/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Documentation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05–10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10 Apr</a:t>
                      </a:r>
                    </a:p>
                  </a:txBody>
                  <a:tcPr marL="78838" marR="78838" marT="39419" marB="3941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1741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0252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1C376FD2-C530-53EA-CFF8-DD8AB3D07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6EEE71D-FE47-0721-A3D9-0857AB1A24CE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Spring Backlog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2FEF62-2206-B591-A167-D4B97C5AB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004697"/>
              </p:ext>
            </p:extLst>
          </p:nvPr>
        </p:nvGraphicFramePr>
        <p:xfrm>
          <a:off x="231662" y="1007745"/>
          <a:ext cx="4340337" cy="3415532"/>
        </p:xfrm>
        <a:graphic>
          <a:graphicData uri="http://schemas.openxmlformats.org/drawingml/2006/table">
            <a:tbl>
              <a:tblPr/>
              <a:tblGrid>
                <a:gridCol w="1639798">
                  <a:extLst>
                    <a:ext uri="{9D8B030D-6E8A-4147-A177-3AD203B41FA5}">
                      <a16:colId xmlns:a16="http://schemas.microsoft.com/office/drawing/2014/main" val="2906255568"/>
                    </a:ext>
                  </a:extLst>
                </a:gridCol>
                <a:gridCol w="856098">
                  <a:extLst>
                    <a:ext uri="{9D8B030D-6E8A-4147-A177-3AD203B41FA5}">
                      <a16:colId xmlns:a16="http://schemas.microsoft.com/office/drawing/2014/main" val="4189351713"/>
                    </a:ext>
                  </a:extLst>
                </a:gridCol>
                <a:gridCol w="1037062">
                  <a:extLst>
                    <a:ext uri="{9D8B030D-6E8A-4147-A177-3AD203B41FA5}">
                      <a16:colId xmlns:a16="http://schemas.microsoft.com/office/drawing/2014/main" val="30696386"/>
                    </a:ext>
                  </a:extLst>
                </a:gridCol>
                <a:gridCol w="807379">
                  <a:extLst>
                    <a:ext uri="{9D8B030D-6E8A-4147-A177-3AD203B41FA5}">
                      <a16:colId xmlns:a16="http://schemas.microsoft.com/office/drawing/2014/main" val="221753703"/>
                    </a:ext>
                  </a:extLst>
                </a:gridCol>
              </a:tblGrid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Task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Priority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Status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Points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210089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1: Core &amp; Auth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10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785604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DB &amp; Entity Framework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975871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Session Guarding &amp; Auth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6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368761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2: Template Mgmt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875953"/>
                  </a:ext>
                </a:extLst>
              </a:tr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ZIP Upload Logic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9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0615329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Template Dashboard UI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Medium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4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967107"/>
                  </a:ext>
                </a:extLst>
              </a:tr>
              <a:tr h="4089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Sprint 3: Portfolio Editor</a:t>
                      </a:r>
                      <a:endParaRPr lang="en-IN" sz="1100"/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10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444018"/>
                  </a:ext>
                </a:extLst>
              </a:tr>
              <a:tr h="240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Multi-tab Forms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8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697445"/>
                  </a:ext>
                </a:extLst>
              </a:tr>
              <a:tr h="182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JSON Serialization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High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Complete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5</a:t>
                      </a:r>
                    </a:p>
                  </a:txBody>
                  <a:tcPr marL="72175" marR="72175" marT="36088" marB="360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503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A641E0-390C-AD8F-9220-E1FDE213D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074276"/>
              </p:ext>
            </p:extLst>
          </p:nvPr>
        </p:nvGraphicFramePr>
        <p:xfrm>
          <a:off x="4884420" y="1013505"/>
          <a:ext cx="4027918" cy="3416302"/>
        </p:xfrm>
        <a:graphic>
          <a:graphicData uri="http://schemas.openxmlformats.org/drawingml/2006/table">
            <a:tbl>
              <a:tblPr/>
              <a:tblGrid>
                <a:gridCol w="1444787">
                  <a:extLst>
                    <a:ext uri="{9D8B030D-6E8A-4147-A177-3AD203B41FA5}">
                      <a16:colId xmlns:a16="http://schemas.microsoft.com/office/drawing/2014/main" val="2456984334"/>
                    </a:ext>
                  </a:extLst>
                </a:gridCol>
                <a:gridCol w="994165">
                  <a:extLst>
                    <a:ext uri="{9D8B030D-6E8A-4147-A177-3AD203B41FA5}">
                      <a16:colId xmlns:a16="http://schemas.microsoft.com/office/drawing/2014/main" val="2711044556"/>
                    </a:ext>
                  </a:extLst>
                </a:gridCol>
                <a:gridCol w="807228">
                  <a:extLst>
                    <a:ext uri="{9D8B030D-6E8A-4147-A177-3AD203B41FA5}">
                      <a16:colId xmlns:a16="http://schemas.microsoft.com/office/drawing/2014/main" val="2994339854"/>
                    </a:ext>
                  </a:extLst>
                </a:gridCol>
                <a:gridCol w="781738">
                  <a:extLst>
                    <a:ext uri="{9D8B030D-6E8A-4147-A177-3AD203B41FA5}">
                      <a16:colId xmlns:a16="http://schemas.microsoft.com/office/drawing/2014/main" val="2380298061"/>
                    </a:ext>
                  </a:extLst>
                </a:gridCol>
              </a:tblGrid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Task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Priority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Status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Points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496253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4: Preview Engine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10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920892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AJAX Live Preview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9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6582135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Regex Placeholder Engine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3739548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Sprint 5: Notifications</a:t>
                      </a:r>
                      <a:endParaRPr lang="en-IN" sz="900" dirty="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924124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Hangfire Jobs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7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28258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Email Integration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810934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6: AI &amp; Feedback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8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820992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Gemini AI API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Medium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9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99906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Feedback &amp; Ratings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Low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239305"/>
                  </a:ext>
                </a:extLst>
              </a:tr>
              <a:tr h="1986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Sprint 7: Launch</a:t>
                      </a:r>
                      <a:endParaRPr lang="en-IN" sz="900"/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235318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Security &amp; Error Handling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2334431"/>
                  </a:ext>
                </a:extLst>
              </a:tr>
              <a:tr h="337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Documentation Manual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High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Complete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5</a:t>
                      </a:r>
                    </a:p>
                  </a:txBody>
                  <a:tcPr marL="59587" marR="59587" marT="29793" marB="2979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263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74511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E381042-E18C-DBC6-C846-55B473E2A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D34B183-0811-8C21-1E97-7C7C6AE8B8D2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DA9E67-BF34-131C-87BB-EDA66576A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401601"/>
              </p:ext>
            </p:extLst>
          </p:nvPr>
        </p:nvGraphicFramePr>
        <p:xfrm>
          <a:off x="231662" y="994854"/>
          <a:ext cx="4012678" cy="727266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86598">
                  <a:extLst>
                    <a:ext uri="{9D8B030D-6E8A-4147-A177-3AD203B41FA5}">
                      <a16:colId xmlns:a16="http://schemas.microsoft.com/office/drawing/2014/main" val="366067354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570949381"/>
                    </a:ext>
                  </a:extLst>
                </a:gridCol>
              </a:tblGrid>
              <a:tr h="363633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Project Name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Device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4259062"/>
                  </a:ext>
                </a:extLst>
              </a:tr>
              <a:tr h="363633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Portify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Windows 11 PC / Laptop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41621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644106-1E43-4FE1-880A-B3A85356A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506325"/>
              </p:ext>
            </p:extLst>
          </p:nvPr>
        </p:nvGraphicFramePr>
        <p:xfrm>
          <a:off x="231662" y="2083752"/>
          <a:ext cx="5832475" cy="1965325"/>
        </p:xfrm>
        <a:graphic>
          <a:graphicData uri="http://schemas.openxmlformats.org/drawingml/2006/table">
            <a:tbl>
              <a:tblPr firstRow="1" firstCol="1" bandRow="1">
                <a:tableStyleId>{9F95112B-359D-4307-BB43-7D9A8EF1CCF3}</a:tableStyleId>
              </a:tblPr>
              <a:tblGrid>
                <a:gridCol w="1095375">
                  <a:extLst>
                    <a:ext uri="{9D8B030D-6E8A-4147-A177-3AD203B41FA5}">
                      <a16:colId xmlns:a16="http://schemas.microsoft.com/office/drawing/2014/main" val="501457342"/>
                    </a:ext>
                  </a:extLst>
                </a:gridCol>
                <a:gridCol w="4737100">
                  <a:extLst>
                    <a:ext uri="{9D8B030D-6E8A-4147-A177-3AD203B41FA5}">
                      <a16:colId xmlns:a16="http://schemas.microsoft.com/office/drawing/2014/main" val="3750859921"/>
                    </a:ext>
                  </a:extLst>
                </a:gridCol>
              </a:tblGrid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Field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Details</a:t>
                      </a:r>
                    </a:p>
                  </a:txBody>
                  <a:tcPr marL="68580" marR="68580" marT="0" marB="0" anchor="ctr"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736455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Case Id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521642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 Title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Create, Preview, and Download Portfolio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50606898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Module Name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Portfolio Management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77712393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Tested By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Vaghela Purvarajsinh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10278277"/>
                  </a:ext>
                </a:extLst>
              </a:tr>
              <a:tr h="28511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Priority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High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48872176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Execution Date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11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05-04-2026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72149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673096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9D978BA-D332-C926-6D12-4931C3B05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42B7122B-2997-3275-4270-84D952B20DF7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A015D5-9FE6-2002-E7E7-3871204AB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254621"/>
              </p:ext>
            </p:extLst>
          </p:nvPr>
        </p:nvGraphicFramePr>
        <p:xfrm>
          <a:off x="231662" y="887730"/>
          <a:ext cx="8546578" cy="3790948"/>
        </p:xfrm>
        <a:graphic>
          <a:graphicData uri="http://schemas.openxmlformats.org/drawingml/2006/table">
            <a:tbl>
              <a:tblPr/>
              <a:tblGrid>
                <a:gridCol w="1164328">
                  <a:extLst>
                    <a:ext uri="{9D8B030D-6E8A-4147-A177-3AD203B41FA5}">
                      <a16:colId xmlns:a16="http://schemas.microsoft.com/office/drawing/2014/main" val="2624946423"/>
                    </a:ext>
                  </a:extLst>
                </a:gridCol>
                <a:gridCol w="1868495">
                  <a:extLst>
                    <a:ext uri="{9D8B030D-6E8A-4147-A177-3AD203B41FA5}">
                      <a16:colId xmlns:a16="http://schemas.microsoft.com/office/drawing/2014/main" val="2715903399"/>
                    </a:ext>
                  </a:extLst>
                </a:gridCol>
                <a:gridCol w="4183231">
                  <a:extLst>
                    <a:ext uri="{9D8B030D-6E8A-4147-A177-3AD203B41FA5}">
                      <a16:colId xmlns:a16="http://schemas.microsoft.com/office/drawing/2014/main" val="1430730048"/>
                    </a:ext>
                  </a:extLst>
                </a:gridCol>
                <a:gridCol w="1330524">
                  <a:extLst>
                    <a:ext uri="{9D8B030D-6E8A-4147-A177-3AD203B41FA5}">
                      <a16:colId xmlns:a16="http://schemas.microsoft.com/office/drawing/2014/main" val="1959959895"/>
                    </a:ext>
                  </a:extLst>
                </a:gridCol>
              </a:tblGrid>
              <a:tr h="961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Expected Result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Pass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098743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Open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Display all active templates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626590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 Template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Open portfolio editor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885399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Live Preview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Update preview instantly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411208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Save Portfolio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Save data successfully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795107"/>
                  </a:ext>
                </a:extLst>
              </a:tr>
              <a:tr h="565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HTML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Download working HTML file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Yes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683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9838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42133D11-EDDE-6A96-232A-ABD2ABE8D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AFC6A1D6-ACC2-8F48-60B0-67441BE0A694}"/>
              </a:ext>
            </a:extLst>
          </p:cNvPr>
          <p:cNvSpPr txBox="1"/>
          <p:nvPr/>
        </p:nvSpPr>
        <p:spPr>
          <a:xfrm>
            <a:off x="231662" y="2853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Agile Test Pan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D3A6F3-79D6-3C1A-538C-4EB58B4DA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208342"/>
              </p:ext>
            </p:extLst>
          </p:nvPr>
        </p:nvGraphicFramePr>
        <p:xfrm>
          <a:off x="411481" y="901451"/>
          <a:ext cx="3997439" cy="3956656"/>
        </p:xfrm>
        <a:graphic>
          <a:graphicData uri="http://schemas.openxmlformats.org/drawingml/2006/table">
            <a:tbl>
              <a:tblPr/>
              <a:tblGrid>
                <a:gridCol w="1102317">
                  <a:extLst>
                    <a:ext uri="{9D8B030D-6E8A-4147-A177-3AD203B41FA5}">
                      <a16:colId xmlns:a16="http://schemas.microsoft.com/office/drawing/2014/main" val="2049178470"/>
                    </a:ext>
                  </a:extLst>
                </a:gridCol>
                <a:gridCol w="2895122">
                  <a:extLst>
                    <a:ext uri="{9D8B030D-6E8A-4147-A177-3AD203B41FA5}">
                      <a16:colId xmlns:a16="http://schemas.microsoft.com/office/drawing/2014/main" val="2438380371"/>
                    </a:ext>
                  </a:extLst>
                </a:gridCol>
              </a:tblGrid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Field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944775"/>
                  </a:ext>
                </a:extLst>
              </a:tr>
              <a:tr h="588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Case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934077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Test Title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AI Chatbot Interaction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650334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Chatbot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365166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Tested By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Vaghela Purvarajsinh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122953"/>
                  </a:ext>
                </a:extLst>
              </a:tr>
              <a:tr h="55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Priority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Medium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3184346"/>
                  </a:ext>
                </a:extLst>
              </a:tr>
              <a:tr h="5885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Execution Date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06-04-2026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0685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2AABA6-F02E-0F08-0A6B-B1242D0C4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049492"/>
              </p:ext>
            </p:extLst>
          </p:nvPr>
        </p:nvGraphicFramePr>
        <p:xfrm>
          <a:off x="4572000" y="901450"/>
          <a:ext cx="4160519" cy="3956652"/>
        </p:xfrm>
        <a:graphic>
          <a:graphicData uri="http://schemas.openxmlformats.org/drawingml/2006/table">
            <a:tbl>
              <a:tblPr/>
              <a:tblGrid>
                <a:gridCol w="1016885">
                  <a:extLst>
                    <a:ext uri="{9D8B030D-6E8A-4147-A177-3AD203B41FA5}">
                      <a16:colId xmlns:a16="http://schemas.microsoft.com/office/drawing/2014/main" val="97543567"/>
                    </a:ext>
                  </a:extLst>
                </a:gridCol>
                <a:gridCol w="3143634">
                  <a:extLst>
                    <a:ext uri="{9D8B030D-6E8A-4147-A177-3AD203B41FA5}">
                      <a16:colId xmlns:a16="http://schemas.microsoft.com/office/drawing/2014/main" val="3051748939"/>
                    </a:ext>
                  </a:extLst>
                </a:gridCol>
              </a:tblGrid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Field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Details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84426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Case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38527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 Title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AI Chatbot Interaction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622689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Chatbot Module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031827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Tested By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Vaghela Purvarajsinh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6556842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Priority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Medium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805243"/>
                  </a:ext>
                </a:extLst>
              </a:tr>
              <a:tr h="56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Execution Date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06-04-2026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378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8626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EC624A75-0835-18C7-207D-AD1B22C3E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B3F38033-B57E-4BCA-920A-ED29520226D6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Earned Value and burn charts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8EB2A-011A-3BF1-B039-8F281E53D1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3101" y="1071880"/>
            <a:ext cx="6435760" cy="362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920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40EDB659-B148-388F-BC3E-B524B8004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3892BEA-6167-5841-CE36-6C4585466DCF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Prospered </a:t>
            </a:r>
            <a:r>
              <a:rPr lang="en-US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Enhancement</a:t>
            </a:r>
            <a:endParaRPr lang="en-IN" sz="2500" dirty="0">
              <a:solidFill>
                <a:schemeClr val="accent3">
                  <a:lumMod val="95000"/>
                </a:schemeClr>
              </a:solidFill>
              <a:latin typeface="Qurova DEMO Med" pitchFamily="50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1843DF-11A2-C175-3D47-279D88DAB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716940"/>
              </p:ext>
            </p:extLst>
          </p:nvPr>
        </p:nvGraphicFramePr>
        <p:xfrm>
          <a:off x="345794" y="1061085"/>
          <a:ext cx="6367425" cy="3537765"/>
        </p:xfrm>
        <a:graphic>
          <a:graphicData uri="http://schemas.openxmlformats.org/drawingml/2006/table">
            <a:tbl>
              <a:tblPr/>
              <a:tblGrid>
                <a:gridCol w="827686">
                  <a:extLst>
                    <a:ext uri="{9D8B030D-6E8A-4147-A177-3AD203B41FA5}">
                      <a16:colId xmlns:a16="http://schemas.microsoft.com/office/drawing/2014/main" val="2641740970"/>
                    </a:ext>
                  </a:extLst>
                </a:gridCol>
                <a:gridCol w="1927860">
                  <a:extLst>
                    <a:ext uri="{9D8B030D-6E8A-4147-A177-3AD203B41FA5}">
                      <a16:colId xmlns:a16="http://schemas.microsoft.com/office/drawing/2014/main" val="831917881"/>
                    </a:ext>
                  </a:extLst>
                </a:gridCol>
                <a:gridCol w="3611879">
                  <a:extLst>
                    <a:ext uri="{9D8B030D-6E8A-4147-A177-3AD203B41FA5}">
                      <a16:colId xmlns:a16="http://schemas.microsoft.com/office/drawing/2014/main" val="1327973142"/>
                    </a:ext>
                  </a:extLst>
                </a:gridCol>
              </a:tblGrid>
              <a:tr h="174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No.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Proposed Enhancement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Description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663676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Export to PDF / Resume Format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Add a feature to convert portfolios into downloadable one-page PDF resumes for job applications.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18812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Portfolio Visitor Analytics Dashboard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Enable users to track portfolio visits, popular projects, and visitor locations using analytics tools.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39878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One-Click Cloud Deployment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Integrate hosting platforms like GitHub Pages, Netlify, or </a:t>
                      </a:r>
                      <a:r>
                        <a:rPr lang="en-IN" sz="1200" dirty="0" err="1"/>
                        <a:t>Vercel</a:t>
                      </a:r>
                      <a:r>
                        <a:rPr lang="en-IN" sz="1200" dirty="0"/>
                        <a:t> for instant portfolio publishing.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5899671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Custom Domain Mapping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Allow users to connect personal domains (e.g.,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www.yourname.com</a:t>
                      </a:r>
                      <a:r>
                        <a:rPr lang="en-US" sz="1200"/>
                        <a:t>) to their portfolios.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002175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Collaborative Portfolio Review Mode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Introduce review links where mentors or friends can comment on portfolio drafts before publishing.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74290"/>
                  </a:ext>
                </a:extLst>
              </a:tr>
              <a:tr h="54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Interactive 3D &amp; WebGL Templates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Add advanced 3D portfolio themes using WebGL and Three.js for more interactive user experiences.</a:t>
                      </a:r>
                    </a:p>
                  </a:txBody>
                  <a:tcPr marL="52290" marR="52290" marT="26145" marB="26145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67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9707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5B725D2C-FD3D-01A0-A40A-6164A40CF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0CA05E3-6D79-2D15-8F64-90048AA5AE51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2E49E-F2A8-F9D6-DF22-7947361F9488}"/>
              </a:ext>
            </a:extLst>
          </p:cNvPr>
          <p:cNvSpPr txBox="1"/>
          <p:nvPr/>
        </p:nvSpPr>
        <p:spPr>
          <a:xfrm>
            <a:off x="312420" y="1157764"/>
            <a:ext cx="600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E150B-389E-4344-4289-8E7082CE0D63}"/>
              </a:ext>
            </a:extLst>
          </p:cNvPr>
          <p:cNvSpPr txBox="1"/>
          <p:nvPr/>
        </p:nvSpPr>
        <p:spPr>
          <a:xfrm>
            <a:off x="210880" y="923607"/>
            <a:ext cx="6334700" cy="385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Portify simplifies professional portfolio creation for users without coding skills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platform generates responsive and professional portfolio websites quickly and efficiently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features include dynamic template rendering, Gemini AI integration, secure admin management, and Agile-based development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project provided practical experience in ASP.NET MVC, SQL Server, and API integration </a:t>
            </a:r>
          </a:p>
          <a:p>
            <a:pPr marL="285750" indent="-285750">
              <a:lnSpc>
                <a:spcPct val="150000"/>
              </a:lnSpc>
              <a:buClr>
                <a:schemeClr val="accent3">
                  <a:lumMod val="95000"/>
                </a:schemeClr>
              </a:buClr>
              <a:buFont typeface="Wingdings" panose="05000000000000000000" pitchFamily="2" charset="2"/>
              <a:buChar char="v"/>
            </a:pPr>
            <a:r>
              <a:rPr lang="en-US" sz="15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Portify is a scalable and efficient career-enablement platform ready for future enhancements and deployment </a:t>
            </a:r>
          </a:p>
        </p:txBody>
      </p:sp>
    </p:spTree>
    <p:extLst>
      <p:ext uri="{BB962C8B-B14F-4D97-AF65-F5344CB8AC3E}">
        <p14:creationId xmlns:p14="http://schemas.microsoft.com/office/powerpoint/2010/main" val="15904618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>
          <a:extLst>
            <a:ext uri="{FF2B5EF4-FFF2-40B4-BE49-F238E27FC236}">
              <a16:creationId xmlns:a16="http://schemas.microsoft.com/office/drawing/2014/main" id="{0D195A92-E1C2-F69F-A603-EE3407872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D8B6411-9C31-9B65-0884-FE846DFA7C85}"/>
              </a:ext>
            </a:extLst>
          </p:cNvPr>
          <p:cNvSpPr txBox="1"/>
          <p:nvPr/>
        </p:nvSpPr>
        <p:spPr>
          <a:xfrm>
            <a:off x="210880" y="361593"/>
            <a:ext cx="80873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dirty="0">
                <a:solidFill>
                  <a:schemeClr val="accent3">
                    <a:lumMod val="95000"/>
                  </a:schemeClr>
                </a:solidFill>
                <a:latin typeface="Qurova DEMO Med" pitchFamily="50" charset="0"/>
              </a:rPr>
              <a:t>Bibliography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C84A4F-17D9-F1EC-DF86-8F698628DD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938060"/>
              </p:ext>
            </p:extLst>
          </p:nvPr>
        </p:nvGraphicFramePr>
        <p:xfrm>
          <a:off x="210880" y="993775"/>
          <a:ext cx="6167060" cy="3643352"/>
        </p:xfrm>
        <a:graphic>
          <a:graphicData uri="http://schemas.openxmlformats.org/drawingml/2006/table">
            <a:tbl>
              <a:tblPr/>
              <a:tblGrid>
                <a:gridCol w="1840684">
                  <a:extLst>
                    <a:ext uri="{9D8B030D-6E8A-4147-A177-3AD203B41FA5}">
                      <a16:colId xmlns:a16="http://schemas.microsoft.com/office/drawing/2014/main" val="1995799678"/>
                    </a:ext>
                  </a:extLst>
                </a:gridCol>
                <a:gridCol w="4326376">
                  <a:extLst>
                    <a:ext uri="{9D8B030D-6E8A-4147-A177-3AD203B41FA5}">
                      <a16:colId xmlns:a16="http://schemas.microsoft.com/office/drawing/2014/main" val="2979415230"/>
                    </a:ext>
                  </a:extLst>
                </a:gridCol>
              </a:tblGrid>
              <a:tr h="368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Category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Resources / References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103508"/>
                  </a:ext>
                </a:extLst>
              </a:tr>
              <a:tr h="11408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Books &amp; Publications</a:t>
                      </a:r>
                      <a:endParaRPr lang="en-IN" sz="14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i="1"/>
                        <a:t>Pro C# 9 with .NET 5</a:t>
                      </a:r>
                      <a:r>
                        <a:rPr lang="en-IN" sz="1400"/>
                        <a:t> – Andrew Troelsen &amp; Philip Japikse, </a:t>
                      </a:r>
                      <a:r>
                        <a:rPr lang="en-IN" sz="1400" i="1"/>
                        <a:t>Pro ASP.NET Core MVC 2</a:t>
                      </a:r>
                      <a:r>
                        <a:rPr lang="en-IN" sz="1400"/>
                        <a:t> – Adam Freeman, </a:t>
                      </a:r>
                      <a:r>
                        <a:rPr lang="en-IN" sz="1400" i="1"/>
                        <a:t>Programming Entity Framework</a:t>
                      </a:r>
                      <a:r>
                        <a:rPr lang="en-IN" sz="1400"/>
                        <a:t> – Julie Lerman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321407"/>
                  </a:ext>
                </a:extLst>
              </a:tr>
              <a:tr h="883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Official Documentation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Microsoft Learn ASP.NET MVC Docs, Google Gemini API Docs, Hangfire Documentation, MDN Web Docs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90989"/>
                  </a:ext>
                </a:extLst>
              </a:tr>
              <a:tr h="6256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Web Resources &amp; Tools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W3Schools, Stack Overflow, Font Awesome, NuGet Package Manager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5387611"/>
                  </a:ext>
                </a:extLst>
              </a:tr>
              <a:tr h="6256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Software &amp; IDEs Used</a:t>
                      </a:r>
                      <a:endParaRPr lang="en-IN" sz="140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Visual Studio 2022, SQL Server Management Studio (SSMS), Postman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8840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038289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>
          <a:extLst>
            <a:ext uri="{FF2B5EF4-FFF2-40B4-BE49-F238E27FC236}">
              <a16:creationId xmlns:a16="http://schemas.microsoft.com/office/drawing/2014/main" id="{864CBDC7-6488-BAD6-5C8C-2A4F055E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4E63BA-FED4-1E2D-2A40-6F8D3986F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419389"/>
      </p:ext>
    </p:extLst>
  </p:cSld>
  <p:clrMapOvr>
    <a:masterClrMapping/>
  </p:clrMapOvr>
</p:sld>
</file>

<file path=ppt/theme/theme1.xml><?xml version="1.0" encoding="utf-8"?>
<a:theme xmlns:a="http://schemas.openxmlformats.org/drawingml/2006/main" name="Sales Funnel Growth by Slidesgo">
  <a:themeElements>
    <a:clrScheme name="Simple Light">
      <a:dk1>
        <a:srgbClr val="EFEFEF"/>
      </a:dk1>
      <a:lt1>
        <a:srgbClr val="01010B"/>
      </a:lt1>
      <a:dk2>
        <a:srgbClr val="999999"/>
      </a:dk2>
      <a:lt2>
        <a:srgbClr val="6950EC"/>
      </a:lt2>
      <a:accent1>
        <a:srgbClr val="A3055C"/>
      </a:accent1>
      <a:accent2>
        <a:srgbClr val="E00E3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99999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3232</Words>
  <Application>Microsoft Office PowerPoint</Application>
  <PresentationFormat>On-screen Show (16:9)</PresentationFormat>
  <Paragraphs>981</Paragraphs>
  <Slides>79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93" baseType="lpstr">
      <vt:lpstr>Courier New</vt:lpstr>
      <vt:lpstr>Inter Tight Light</vt:lpstr>
      <vt:lpstr>Darker Grotesque SemiBold</vt:lpstr>
      <vt:lpstr>Calibri Light</vt:lpstr>
      <vt:lpstr>Inter Tight Medium</vt:lpstr>
      <vt:lpstr>Lora</vt:lpstr>
      <vt:lpstr>Arial</vt:lpstr>
      <vt:lpstr>Inter Tight</vt:lpstr>
      <vt:lpstr>Inter Tight SemiBold</vt:lpstr>
      <vt:lpstr>Calibri</vt:lpstr>
      <vt:lpstr>Qurova DEMO Med</vt:lpstr>
      <vt:lpstr>Glitten</vt:lpstr>
      <vt:lpstr>Wingdings</vt:lpstr>
      <vt:lpstr>Sales Funnel Growth by Slidesgo</vt:lpstr>
      <vt:lpstr>Portify</vt:lpstr>
      <vt:lpstr>PowerPoint Presentation</vt:lpstr>
      <vt:lpstr>PowerPoint Presentation</vt:lpstr>
      <vt:lpstr>PowerPoint Presentation</vt:lpstr>
      <vt:lpstr>PowerPoint Presentation</vt:lpstr>
      <vt:lpstr>Introduction</vt:lpstr>
      <vt:lpstr>Existing System</vt:lpstr>
      <vt:lpstr>Need for the New System</vt:lpstr>
      <vt:lpstr>Objective of the New System</vt:lpstr>
      <vt:lpstr>Problem Definition</vt:lpstr>
      <vt:lpstr>Scope of the Project &amp; Core Components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purvarajsinh vaghela</cp:lastModifiedBy>
  <cp:revision>81</cp:revision>
  <dcterms:modified xsi:type="dcterms:W3CDTF">2026-05-16T08:47:13Z</dcterms:modified>
</cp:coreProperties>
</file>